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16"/>
  </p:notesMasterIdLst>
  <p:sldIdLst>
    <p:sldId id="2000" r:id="rId2"/>
    <p:sldId id="362" r:id="rId3"/>
    <p:sldId id="367" r:id="rId4"/>
    <p:sldId id="2013" r:id="rId5"/>
    <p:sldId id="2014" r:id="rId6"/>
    <p:sldId id="2020" r:id="rId7"/>
    <p:sldId id="2015" r:id="rId8"/>
    <p:sldId id="2021" r:id="rId9"/>
    <p:sldId id="2016" r:id="rId10"/>
    <p:sldId id="2017" r:id="rId11"/>
    <p:sldId id="2018" r:id="rId12"/>
    <p:sldId id="2019" r:id="rId13"/>
    <p:sldId id="380" r:id="rId14"/>
    <p:sldId id="2012" r:id="rId15"/>
  </p:sldIdLst>
  <p:sldSz cx="10691813" cy="7559675"/>
  <p:notesSz cx="6858000" cy="9144000"/>
  <p:embeddedFontLst>
    <p:embeddedFont>
      <p:font typeface="나눔스퀘어 네오 OTF Regular" panose="020B0600000101010101" charset="-127"/>
      <p:regular r:id="rId17"/>
    </p:embeddedFont>
    <p:embeddedFont>
      <p:font typeface="나눔스퀘어 네오 OTF Bold" panose="00000800000000000000" pitchFamily="50" charset="-127"/>
      <p:bold r:id="rId18"/>
    </p:embeddedFont>
    <p:embeddedFont>
      <p:font typeface="나눔스퀘어 네오 OTF ExtraBold" panose="00000900000000000000" pitchFamily="50" charset="-127"/>
      <p:bold r:id="rId19"/>
    </p:embeddedFont>
    <p:embeddedFont>
      <p:font typeface="나눔스퀘어OTF" panose="020B0600000101010101" pitchFamily="34" charset="-127"/>
      <p:regular r:id="rId20"/>
    </p:embeddedFont>
  </p:embeddedFontLst>
  <p:defaultTextStyle>
    <a:defPPr>
      <a:defRPr lang="en-US"/>
    </a:defPPr>
    <a:lvl1pPr marL="0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1pPr>
    <a:lvl2pPr marL="514259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2pPr>
    <a:lvl3pPr marL="1028517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3pPr>
    <a:lvl4pPr marL="1542776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4pPr>
    <a:lvl5pPr marL="2057034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5pPr>
    <a:lvl6pPr marL="2571293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6pPr>
    <a:lvl7pPr marL="3085551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7pPr>
    <a:lvl8pPr marL="3599810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8pPr>
    <a:lvl9pPr marL="4114068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1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6471" userDrawn="1">
          <p15:clr>
            <a:srgbClr val="A4A3A4"/>
          </p15:clr>
        </p15:guide>
        <p15:guide id="5" orient="horz" pos="4506" userDrawn="1">
          <p15:clr>
            <a:srgbClr val="A4A3A4"/>
          </p15:clr>
        </p15:guide>
        <p15:guide id="7" orient="horz" pos="44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ckmors@gmail.com" initials="r" lastIdx="1" clrIdx="0">
    <p:extLst>
      <p:ext uri="{19B8F6BF-5375-455C-9EA6-DF929625EA0E}">
        <p15:presenceInfo xmlns:p15="http://schemas.microsoft.com/office/powerpoint/2012/main" userId="ea2894fde78f420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A98"/>
    <a:srgbClr val="E5F3E8"/>
    <a:srgbClr val="FFFFFF"/>
    <a:srgbClr val="FBE9E7"/>
    <a:srgbClr val="FDF3DC"/>
    <a:srgbClr val="D2D7E6"/>
    <a:srgbClr val="F4F5FA"/>
    <a:srgbClr val="FFFBEB"/>
    <a:srgbClr val="FFF9E1"/>
    <a:srgbClr val="EFF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5" autoAdjust="0"/>
    <p:restoredTop sz="97421" autoAdjust="0"/>
  </p:normalViewPr>
  <p:slideViewPr>
    <p:cSldViewPr snapToGrid="0">
      <p:cViewPr varScale="1">
        <p:scale>
          <a:sx n="86" d="100"/>
          <a:sy n="86" d="100"/>
        </p:scale>
        <p:origin x="1146" y="84"/>
      </p:cViewPr>
      <p:guideLst>
        <p:guide orient="horz" pos="681"/>
        <p:guide pos="264"/>
        <p:guide pos="6471"/>
        <p:guide orient="horz" pos="4506"/>
        <p:guide orient="horz" pos="440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1B31C-AD2F-41A0-915B-86354A8E886A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250BC-2621-40F6-AB4C-FA65842E8C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11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1pPr>
    <a:lvl2pPr marL="514259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2pPr>
    <a:lvl3pPr marL="1028517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3pPr>
    <a:lvl4pPr marL="1542776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4pPr>
    <a:lvl5pPr marL="2057034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5pPr>
    <a:lvl6pPr marL="2571293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6pPr>
    <a:lvl7pPr marL="3085551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7pPr>
    <a:lvl8pPr marL="3599810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8pPr>
    <a:lvl9pPr marL="4114068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2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257601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250BC-2621-40F6-AB4C-FA65842E8C61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7647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회사소개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DDB5D08C-E48C-33C0-A5BA-BC4E9AF4A0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1" y="604781"/>
            <a:ext cx="10691813" cy="64156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14D345-D555-88F0-06BF-4E492E2445C0}"/>
              </a:ext>
            </a:extLst>
          </p:cNvPr>
          <p:cNvSpPr txBox="1"/>
          <p:nvPr userDrawn="1"/>
        </p:nvSpPr>
        <p:spPr>
          <a:xfrm>
            <a:off x="4283758" y="649352"/>
            <a:ext cx="2124299" cy="276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88" dirty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rPr>
              <a:t>Software for Safe World</a:t>
            </a:r>
            <a:endParaRPr lang="ko-KR" altLang="en-US" sz="1188" dirty="0">
              <a:solidFill>
                <a:schemeClr val="tx2"/>
              </a:solidFill>
              <a:latin typeface="나눔스퀘어 네오 OTF Bold" panose="00000900000000000000" pitchFamily="50" charset="-127"/>
              <a:ea typeface="나눔스퀘어 네오 OTF Bold" panose="000009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09B5B-ADA0-CFD7-4AA6-5C75669BB7A5}"/>
              </a:ext>
            </a:extLst>
          </p:cNvPr>
          <p:cNvSpPr txBox="1"/>
          <p:nvPr/>
        </p:nvSpPr>
        <p:spPr>
          <a:xfrm>
            <a:off x="6114978" y="6946162"/>
            <a:ext cx="4155722" cy="223440"/>
          </a:xfrm>
          <a:prstGeom prst="rect">
            <a:avLst/>
          </a:prstGeom>
          <a:ln>
            <a:noFill/>
          </a:ln>
        </p:spPr>
        <p:txBody>
          <a:bodyPr vert="horz" wrap="square" lIns="89100" tIns="45263" rIns="0" bIns="45263" rtlCol="0">
            <a:spAutoFit/>
          </a:bodyPr>
          <a:lstStyle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chemeClr val="bg1">
                    <a:alpha val="60000"/>
                  </a:scheme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5000000000000000000" pitchFamily="2" charset="2"/>
              <a:buChar char="§"/>
              <a:tabLst>
                <a:tab pos="0" algn="l"/>
                <a:tab pos="265113" algn="l"/>
              </a:tabLst>
              <a:defRPr kumimoji="0" lang="ko-KR" altLang="en-US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604020202020204" pitchFamily="34" charset="0"/>
              <a:buChar char="•"/>
              <a:tabLst>
                <a:tab pos="444500" algn="l"/>
              </a:tabLst>
              <a:defRPr kumimoji="0" lang="ko-KR" altLang="en-US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500000000000000" pitchFamily="50" charset="-127"/>
              <a:buChar char="-"/>
              <a:tabLst>
                <a:tab pos="444500" algn="l"/>
              </a:tabLst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20B0503020000020004" pitchFamily="50" charset="-127"/>
              <a:buChar char="-"/>
              <a:tabLst/>
              <a:defRPr kumimoji="0" lang="en-US" altLang="en-US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9pPr>
          </a:lstStyle>
          <a:p>
            <a:pPr lvl="0"/>
            <a:r>
              <a:rPr lang="en-US" altLang="x-none" sz="940" b="0" i="0" spc="-30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나눔스퀘어 네오 OTF Bold"/>
                <a:ea typeface="나눔스퀘어 네오 OTF Bold"/>
              </a:rPr>
              <a:t>ⓒ 2026. </a:t>
            </a:r>
            <a:r>
              <a:rPr lang="en-US" altLang="x-none" sz="940" b="0" i="0" spc="-30" baseline="0" dirty="0" err="1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나눔스퀘어 네오 OTF Bold"/>
                <a:ea typeface="나눔스퀘어 네오 OTF Bold"/>
              </a:rPr>
              <a:t>Suresofttech</a:t>
            </a:r>
            <a:r>
              <a:rPr lang="en-US" altLang="x-none" sz="940" b="0" i="0" spc="-30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나눔스퀘어 네오 OTF Bold"/>
                <a:ea typeface="나눔스퀘어 네오 OTF Bold"/>
              </a:rPr>
              <a:t> Inc. All rights reserved.</a:t>
            </a:r>
            <a:endParaRPr lang="x-none" altLang="en-US" sz="940" b="0" i="0" spc="-30" baseline="0" dirty="0"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나눔스퀘어 네오 OTF Bold"/>
              <a:ea typeface="나눔스퀘어 네오 OTF 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E16F30B-7B23-5E67-2F65-ACE294D3C0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833" y="3228208"/>
            <a:ext cx="3148148" cy="30427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FFE917F-F11C-4666-F5C4-660B12F92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8071" y="3697061"/>
            <a:ext cx="7435672" cy="314616"/>
          </a:xfrm>
          <a:noFill/>
        </p:spPr>
        <p:txBody>
          <a:bodyPr wrap="square" rtlCol="0">
            <a:spAutoFit/>
          </a:bodyPr>
          <a:lstStyle>
            <a:lvl1pPr algn="ctr">
              <a:defRPr lang="en-US" sz="1584" spc="-69" dirty="0">
                <a:cs typeface="나눔스퀘어 네오 OTF Bold"/>
              </a:defRPr>
            </a:lvl1pPr>
          </a:lstStyle>
          <a:p>
            <a:pPr marL="0" lvl="0" algn="ctr" defTabSz="452628" latinLnBrk="0"/>
            <a:r>
              <a:rPr lang="ko-KR" altLang="en-US" dirty="0"/>
              <a:t>마스터 제목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1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1" y="604781"/>
            <a:ext cx="10691813" cy="64156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1887" y="3205274"/>
            <a:ext cx="9088041" cy="453243"/>
          </a:xfrm>
        </p:spPr>
        <p:txBody>
          <a:bodyPr anchor="b">
            <a:spAutoFit/>
          </a:bodyPr>
          <a:lstStyle>
            <a:lvl1pPr algn="ctr">
              <a:defRPr sz="2574" spc="-99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마스터 제목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36477" y="3690035"/>
            <a:ext cx="8018860" cy="36969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584" spc="-69" baseline="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 marL="452628" indent="0" algn="ctr">
              <a:buNone/>
              <a:defRPr sz="1980"/>
            </a:lvl2pPr>
            <a:lvl3pPr marL="905256" indent="0" algn="ctr">
              <a:buNone/>
              <a:defRPr sz="1782"/>
            </a:lvl3pPr>
            <a:lvl4pPr marL="1357884" indent="0" algn="ctr">
              <a:buNone/>
              <a:defRPr sz="1584"/>
            </a:lvl4pPr>
            <a:lvl5pPr marL="1810512" indent="0" algn="ctr">
              <a:buNone/>
              <a:defRPr sz="1584"/>
            </a:lvl5pPr>
            <a:lvl6pPr marL="2263140" indent="0" algn="ctr">
              <a:buNone/>
              <a:defRPr sz="1584"/>
            </a:lvl6pPr>
            <a:lvl7pPr marL="2715768" indent="0" algn="ctr">
              <a:buNone/>
              <a:defRPr sz="1584"/>
            </a:lvl7pPr>
            <a:lvl8pPr marL="3168396" indent="0" algn="ctr">
              <a:buNone/>
              <a:defRPr sz="1584"/>
            </a:lvl8pPr>
            <a:lvl9pPr marL="3621024" indent="0" algn="ctr">
              <a:buNone/>
              <a:defRPr sz="1584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4365514" y="742103"/>
            <a:ext cx="1960793" cy="2611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89" dirty="0">
                <a:solidFill>
                  <a:schemeClr val="bg1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rPr>
              <a:t>Software for Safe World</a:t>
            </a:r>
            <a:endParaRPr lang="ko-KR" altLang="en-US" sz="1089" dirty="0">
              <a:solidFill>
                <a:schemeClr val="bg1">
                  <a:lumMod val="50000"/>
                </a:schemeClr>
              </a:solidFill>
              <a:latin typeface="나눔스퀘어 네오 OTF Bold" panose="00000900000000000000" pitchFamily="50" charset="-127"/>
              <a:ea typeface="나눔스퀘어 네오 OTF 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368" y="558044"/>
            <a:ext cx="1277078" cy="12343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6114978" y="6946162"/>
            <a:ext cx="4155722" cy="223440"/>
          </a:xfrm>
          <a:prstGeom prst="rect">
            <a:avLst/>
          </a:prstGeom>
          <a:ln>
            <a:noFill/>
          </a:ln>
        </p:spPr>
        <p:txBody>
          <a:bodyPr vert="horz" wrap="square" lIns="89100" tIns="45263" rIns="0" bIns="45263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나눔스퀘어 네오 OTF Bold"/>
                <a:cs typeface="나눔스퀘어 네오 OTF Bold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9pPr>
          </a:lstStyle>
          <a:p>
            <a:pPr lvl="0"/>
            <a:r>
              <a:rPr lang="en-US" altLang="x-none" sz="940" dirty="0"/>
              <a:t>ⓒ 2026. </a:t>
            </a:r>
            <a:r>
              <a:rPr lang="en-US" altLang="x-none" sz="940" dirty="0" err="1"/>
              <a:t>Suresofttech</a:t>
            </a:r>
            <a:r>
              <a:rPr lang="en-US" altLang="x-none" sz="940" dirty="0"/>
              <a:t> Inc. All rights reserved.</a:t>
            </a:r>
            <a:endParaRPr lang="x-none" altLang="en-US" sz="940" dirty="0"/>
          </a:p>
        </p:txBody>
      </p:sp>
    </p:spTree>
    <p:extLst>
      <p:ext uri="{BB962C8B-B14F-4D97-AF65-F5344CB8AC3E}">
        <p14:creationId xmlns:p14="http://schemas.microsoft.com/office/powerpoint/2010/main" val="256802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_제목2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1" y="604781"/>
            <a:ext cx="10691813" cy="64156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1887" y="2991012"/>
            <a:ext cx="9088041" cy="818685"/>
          </a:xfrm>
        </p:spPr>
        <p:txBody>
          <a:bodyPr anchor="b">
            <a:spAutoFit/>
          </a:bodyPr>
          <a:lstStyle>
            <a:lvl1pPr algn="ctr">
              <a:lnSpc>
                <a:spcPct val="110000"/>
              </a:lnSpc>
              <a:defRPr sz="2178" spc="-99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제목이 한 줄을 넘어가는 문서의 경우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해당 표지를 사용하세요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36477" y="3841214"/>
            <a:ext cx="8018860" cy="36969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584" spc="-69" baseline="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 marL="452628" indent="0" algn="ctr">
              <a:buNone/>
              <a:defRPr sz="1980"/>
            </a:lvl2pPr>
            <a:lvl3pPr marL="905256" indent="0" algn="ctr">
              <a:buNone/>
              <a:defRPr sz="1782"/>
            </a:lvl3pPr>
            <a:lvl4pPr marL="1357884" indent="0" algn="ctr">
              <a:buNone/>
              <a:defRPr sz="1584"/>
            </a:lvl4pPr>
            <a:lvl5pPr marL="1810512" indent="0" algn="ctr">
              <a:buNone/>
              <a:defRPr sz="1584"/>
            </a:lvl5pPr>
            <a:lvl6pPr marL="2263140" indent="0" algn="ctr">
              <a:buNone/>
              <a:defRPr sz="1584"/>
            </a:lvl6pPr>
            <a:lvl7pPr marL="2715768" indent="0" algn="ctr">
              <a:buNone/>
              <a:defRPr sz="1584"/>
            </a:lvl7pPr>
            <a:lvl8pPr marL="3168396" indent="0" algn="ctr">
              <a:buNone/>
              <a:defRPr sz="1584"/>
            </a:lvl8pPr>
            <a:lvl9pPr marL="3621024" indent="0" algn="ctr">
              <a:buNone/>
              <a:defRPr sz="1584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4365514" y="742103"/>
            <a:ext cx="1960793" cy="2611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89" dirty="0">
                <a:solidFill>
                  <a:schemeClr val="bg1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rPr>
              <a:t>Software for Safe World</a:t>
            </a:r>
            <a:endParaRPr lang="ko-KR" altLang="en-US" sz="1089" dirty="0">
              <a:solidFill>
                <a:schemeClr val="bg1">
                  <a:lumMod val="50000"/>
                </a:schemeClr>
              </a:solidFill>
              <a:latin typeface="나눔스퀘어 네오 OTF Bold" panose="00000900000000000000" pitchFamily="50" charset="-127"/>
              <a:ea typeface="나눔스퀘어 네오 OTF 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368" y="558044"/>
            <a:ext cx="1277078" cy="12343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6114978" y="6946162"/>
            <a:ext cx="4155722" cy="223440"/>
          </a:xfrm>
          <a:prstGeom prst="rect">
            <a:avLst/>
          </a:prstGeom>
          <a:ln>
            <a:noFill/>
          </a:ln>
        </p:spPr>
        <p:txBody>
          <a:bodyPr vert="horz" wrap="square" lIns="89100" tIns="45263" rIns="0" bIns="45263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나눔스퀘어 네오 OTF Bold"/>
                <a:cs typeface="나눔스퀘어 네오 OTF Bold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9pPr>
          </a:lstStyle>
          <a:p>
            <a:pPr lvl="0"/>
            <a:r>
              <a:rPr lang="en-US" altLang="x-none" sz="940" dirty="0"/>
              <a:t>ⓒ 2026. </a:t>
            </a:r>
            <a:r>
              <a:rPr lang="en-US" altLang="x-none" sz="940" dirty="0" err="1"/>
              <a:t>Suresofttech</a:t>
            </a:r>
            <a:r>
              <a:rPr lang="en-US" altLang="x-none" sz="940" dirty="0"/>
              <a:t> Inc. All rights reserved.</a:t>
            </a:r>
            <a:endParaRPr lang="x-none" altLang="en-US" sz="940" dirty="0"/>
          </a:p>
        </p:txBody>
      </p:sp>
    </p:spTree>
    <p:extLst>
      <p:ext uri="{BB962C8B-B14F-4D97-AF65-F5344CB8AC3E}">
        <p14:creationId xmlns:p14="http://schemas.microsoft.com/office/powerpoint/2010/main" val="258109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96461" y="0"/>
            <a:ext cx="10595353" cy="6118838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8717" y="5572822"/>
            <a:ext cx="2635691" cy="71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089" dirty="0" smtClean="0">
                <a:solidFill>
                  <a:schemeClr val="tx2">
                    <a:lumMod val="50000"/>
                  </a:schemeClr>
                </a:solidFill>
                <a:latin typeface="나눔스퀘어 네오 OTF Bold"/>
              </a:defRPr>
            </a:lvl1pPr>
          </a:lstStyle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63349" y="5572822"/>
            <a:ext cx="2634392" cy="71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089" dirty="0" smtClean="0">
                <a:solidFill>
                  <a:schemeClr val="tx2">
                    <a:lumMod val="50000"/>
                  </a:schemeClr>
                </a:solidFill>
                <a:latin typeface="나눔스퀘어 네오 OTF Bold"/>
              </a:defRPr>
            </a:lvl1pPr>
          </a:lstStyle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F994BDC7-3A8A-2686-D267-71EDEA714C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501" y="5572822"/>
            <a:ext cx="2635691" cy="71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089" dirty="0" smtClean="0">
                <a:solidFill>
                  <a:schemeClr val="tx2">
                    <a:lumMod val="50000"/>
                  </a:schemeClr>
                </a:solidFill>
                <a:latin typeface="나눔스퀘어 네오 OTF Bold"/>
              </a:defRPr>
            </a:lvl1pPr>
          </a:lstStyle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052" y="5078496"/>
            <a:ext cx="2634391" cy="33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386" spc="-50" dirty="0" smtClean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>
              <a:defRPr lang="ko-KR" altLang="en-US" sz="1782" dirty="0" smtClean="0"/>
            </a:lvl2pPr>
            <a:lvl3pPr>
              <a:defRPr lang="ko-KR" altLang="en-US" sz="1782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2628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44" y="1270250"/>
            <a:ext cx="1703446" cy="164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637500" y="1517053"/>
            <a:ext cx="2499402" cy="337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2" charset="-127"/>
                <a:ea typeface="나눔스퀘어 네오 OTF Bold" panose="00000900000000000000" pitchFamily="2" charset="-127"/>
              </a:defRPr>
            </a:lvl1pPr>
          </a:lstStyle>
          <a:p>
            <a:pPr algn="l"/>
            <a:r>
              <a:rPr lang="en-US" altLang="ko-KR" sz="1584" spc="0" dirty="0">
                <a:latin typeface="나눔스퀘어 네오 OTF Bold"/>
                <a:ea typeface="나눔스퀘어 네오 OTF Bold"/>
              </a:rPr>
              <a:t>TABLE OF CONTENTS</a:t>
            </a:r>
            <a:endParaRPr lang="ko-KR" altLang="en-US" sz="1584" spc="0" dirty="0">
              <a:latin typeface="나눔스퀘어 네오 OTF Bold"/>
              <a:ea typeface="나눔스퀘어 네오 OTF Bold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96BF0D5-DBB2-3C80-ECAB-B9AFA42465B6}"/>
              </a:ext>
            </a:extLst>
          </p:cNvPr>
          <p:cNvCxnSpPr>
            <a:cxnSpLocks/>
          </p:cNvCxnSpPr>
          <p:nvPr userDrawn="1"/>
        </p:nvCxnSpPr>
        <p:spPr>
          <a:xfrm>
            <a:off x="747568" y="5471731"/>
            <a:ext cx="252562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4172118" y="5471731"/>
            <a:ext cx="252562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7428784" y="5471731"/>
            <a:ext cx="252562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8395055" y="3364523"/>
            <a:ext cx="160873" cy="151661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6900408" y="1067259"/>
            <a:ext cx="93019" cy="8769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4474723" y="732636"/>
            <a:ext cx="160873" cy="151661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6DF1567-E253-5219-A47B-D5962357E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7500" y="5078496"/>
            <a:ext cx="2635690" cy="33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386" spc="-50" dirty="0" smtClean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>
              <a:defRPr lang="ko-KR" altLang="en-US" sz="1782" dirty="0" smtClean="0"/>
            </a:lvl2pPr>
            <a:lvl3pPr>
              <a:defRPr lang="ko-KR" altLang="en-US" sz="1782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2628" latinLnBrk="0"/>
            <a:r>
              <a:rPr lang="ko-KR" altLang="en-US" dirty="0"/>
              <a:t>제목을 입력하세요</a:t>
            </a:r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8718" y="5078496"/>
            <a:ext cx="2634391" cy="33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386" spc="-50" dirty="0" smtClean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>
              <a:defRPr lang="ko-KR" altLang="en-US" sz="1782" dirty="0" smtClean="0"/>
            </a:lvl2pPr>
            <a:lvl3pPr>
              <a:defRPr lang="ko-KR" altLang="en-US" sz="1782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2628" latinLnBrk="0"/>
            <a:r>
              <a:rPr lang="ko-KR" altLang="en-US" dirty="0"/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904314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96461" y="0"/>
            <a:ext cx="10595353" cy="6118838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8717" y="5572822"/>
            <a:ext cx="2635691" cy="71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089" dirty="0" smtClean="0">
                <a:solidFill>
                  <a:schemeClr val="tx2">
                    <a:lumMod val="50000"/>
                  </a:schemeClr>
                </a:solidFill>
                <a:latin typeface="나눔스퀘어 네오 OTF Bold"/>
              </a:defRPr>
            </a:lvl1pPr>
          </a:lstStyle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63349" y="5572822"/>
            <a:ext cx="2634392" cy="71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089" dirty="0" smtClean="0">
                <a:solidFill>
                  <a:schemeClr val="tx2">
                    <a:lumMod val="50000"/>
                  </a:schemeClr>
                </a:solidFill>
                <a:latin typeface="나눔스퀘어 네오 OTF Bold"/>
              </a:defRPr>
            </a:lvl1pPr>
          </a:lstStyle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052" y="5078496"/>
            <a:ext cx="2634391" cy="33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386" spc="-50" dirty="0" smtClean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>
              <a:defRPr lang="ko-KR" altLang="en-US" sz="1782" dirty="0" smtClean="0"/>
            </a:lvl2pPr>
            <a:lvl3pPr>
              <a:defRPr lang="ko-KR" altLang="en-US" sz="1782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2628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44" y="1270250"/>
            <a:ext cx="1703446" cy="164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637500" y="1517053"/>
            <a:ext cx="2499402" cy="337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2" charset="-127"/>
                <a:ea typeface="나눔스퀘어 네오 OTF Bold" panose="00000900000000000000" pitchFamily="2" charset="-127"/>
              </a:defRPr>
            </a:lvl1pPr>
          </a:lstStyle>
          <a:p>
            <a:pPr algn="l"/>
            <a:r>
              <a:rPr lang="en-US" altLang="ko-KR" sz="1584" spc="0" dirty="0">
                <a:latin typeface="나눔스퀘어 네오 OTF Bold"/>
                <a:ea typeface="나눔스퀘어 네오 OTF Bold"/>
              </a:rPr>
              <a:t>TABLE OF CONTENTS</a:t>
            </a:r>
            <a:endParaRPr lang="ko-KR" altLang="en-US" sz="1584" spc="0" dirty="0">
              <a:latin typeface="나눔스퀘어 네오 OTF Bold"/>
              <a:ea typeface="나눔스퀘어 네오 OTF Bold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4172118" y="5471731"/>
            <a:ext cx="252562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7428784" y="5471731"/>
            <a:ext cx="252562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8395055" y="3364523"/>
            <a:ext cx="160873" cy="151661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6900408" y="1067259"/>
            <a:ext cx="93019" cy="8769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4474723" y="732636"/>
            <a:ext cx="160873" cy="151661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8718" y="5078496"/>
            <a:ext cx="2634391" cy="33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386" spc="-50" dirty="0" smtClean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>
              <a:defRPr lang="ko-KR" altLang="en-US" sz="1782" dirty="0" smtClean="0"/>
            </a:lvl2pPr>
            <a:lvl3pPr>
              <a:defRPr lang="ko-KR" altLang="en-US" sz="1782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2628" latinLnBrk="0"/>
            <a:r>
              <a:rPr lang="ko-KR" altLang="en-US" dirty="0"/>
              <a:t>제목을 입력하세요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FE9924A-76C7-483D-B875-A15098FBB4C0}"/>
              </a:ext>
            </a:extLst>
          </p:cNvPr>
          <p:cNvSpPr/>
          <p:nvPr userDrawn="1"/>
        </p:nvSpPr>
        <p:spPr>
          <a:xfrm>
            <a:off x="2937043" y="3960316"/>
            <a:ext cx="395861" cy="373193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E5898F9-800B-429D-AFD2-3FCBC058C605}"/>
              </a:ext>
            </a:extLst>
          </p:cNvPr>
          <p:cNvSpPr/>
          <p:nvPr userDrawn="1"/>
        </p:nvSpPr>
        <p:spPr>
          <a:xfrm>
            <a:off x="1013090" y="5786056"/>
            <a:ext cx="264383" cy="249243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</p:spTree>
    <p:extLst>
      <p:ext uri="{BB962C8B-B14F-4D97-AF65-F5344CB8AC3E}">
        <p14:creationId xmlns:p14="http://schemas.microsoft.com/office/powerpoint/2010/main" val="2946450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96461" y="0"/>
            <a:ext cx="10595353" cy="6118838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5127" y="5176379"/>
            <a:ext cx="2566170" cy="113536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1pPr>
            <a:lvl2pPr marL="452628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2pPr>
            <a:lvl3pPr marL="905256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3pPr>
            <a:lvl4pPr marL="1357884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4pPr>
            <a:lvl5pPr marL="1810512" indent="0">
              <a:buFontTx/>
              <a:buNone/>
              <a:defRPr lang="ko-KR" altLang="en-US" sz="1089" kern="1200" dirty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36953" y="5176379"/>
            <a:ext cx="516996" cy="113536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1pPr>
            <a:lvl2pPr marL="452628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2pPr>
            <a:lvl3pPr marL="905256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3pPr>
            <a:lvl4pPr marL="1357884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4pPr>
            <a:lvl5pPr marL="1810512" indent="0">
              <a:buFontTx/>
              <a:buNone/>
              <a:defRPr lang="ko-KR" altLang="en-US" sz="1089" kern="1200" dirty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21" name="텍스트 개체 틀 22">
            <a:extLst>
              <a:ext uri="{FF2B5EF4-FFF2-40B4-BE49-F238E27FC236}">
                <a16:creationId xmlns:a16="http://schemas.microsoft.com/office/drawing/2014/main" id="{F2E15DB0-7F08-4AFA-56CB-768A62EBBE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51730" y="4641218"/>
            <a:ext cx="3602219" cy="33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386" spc="-50" dirty="0" smtClean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>
              <a:defRPr lang="ko-KR" altLang="en-US" sz="1782" dirty="0" smtClean="0"/>
            </a:lvl2pPr>
            <a:lvl3pPr>
              <a:defRPr lang="ko-KR" altLang="en-US" sz="1782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2628" latinLnBrk="0"/>
            <a:r>
              <a:rPr lang="ko-KR" altLang="en-US" dirty="0"/>
              <a:t>제목을 입력하세요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8395055" y="3364523"/>
            <a:ext cx="160873" cy="151661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6900408" y="1067259"/>
            <a:ext cx="93019" cy="8769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4474723" y="732636"/>
            <a:ext cx="160873" cy="151661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44" y="1270250"/>
            <a:ext cx="1703446" cy="164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637500" y="1517053"/>
            <a:ext cx="2499402" cy="337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2" charset="-127"/>
                <a:ea typeface="나눔스퀘어 네오 OTF Bold" panose="00000900000000000000" pitchFamily="2" charset="-127"/>
              </a:defRPr>
            </a:lvl1pPr>
          </a:lstStyle>
          <a:p>
            <a:pPr algn="l"/>
            <a:r>
              <a:rPr lang="en-US" altLang="ko-KR" sz="1584" spc="0" dirty="0">
                <a:latin typeface="나눔스퀘어 네오 OTF Bold"/>
                <a:ea typeface="나눔스퀘어 네오 OTF Bold"/>
              </a:rPr>
              <a:t>TABLE OF CONTENTS</a:t>
            </a:r>
            <a:endParaRPr lang="ko-KR" altLang="en-US" sz="1584" spc="0" dirty="0">
              <a:latin typeface="나눔스퀘어 네오 OTF Bold"/>
              <a:ea typeface="나눔스퀘어 네오 OTF Bold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937043" y="3960316"/>
            <a:ext cx="395861" cy="373193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1013090" y="5786056"/>
            <a:ext cx="264383" cy="249243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55F8BD5-F554-4428-961E-235506ECA476}"/>
              </a:ext>
            </a:extLst>
          </p:cNvPr>
          <p:cNvCxnSpPr/>
          <p:nvPr userDrawn="1"/>
        </p:nvCxnSpPr>
        <p:spPr>
          <a:xfrm>
            <a:off x="6172545" y="5037306"/>
            <a:ext cx="337398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270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_chapter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96461" y="0"/>
            <a:ext cx="10595353" cy="6118838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5127" y="5176379"/>
            <a:ext cx="2566170" cy="113536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1pPr>
            <a:lvl2pPr marL="452628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2pPr>
            <a:lvl3pPr marL="905256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3pPr>
            <a:lvl4pPr marL="1357884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4pPr>
            <a:lvl5pPr marL="1810512" indent="0">
              <a:buFontTx/>
              <a:buNone/>
              <a:defRPr lang="ko-KR" altLang="en-US" sz="1089" kern="1200" dirty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36953" y="5176379"/>
            <a:ext cx="516996" cy="113536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1pPr>
            <a:lvl2pPr marL="452628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2pPr>
            <a:lvl3pPr marL="905256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3pPr>
            <a:lvl4pPr marL="1357884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4pPr>
            <a:lvl5pPr marL="1810512" indent="0">
              <a:buFontTx/>
              <a:buNone/>
              <a:defRPr lang="ko-KR" altLang="en-US" sz="1089" kern="1200" dirty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8395055" y="3364523"/>
            <a:ext cx="160873" cy="151661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6900408" y="1067259"/>
            <a:ext cx="93019" cy="8769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4474723" y="732636"/>
            <a:ext cx="160873" cy="151661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44" y="1270250"/>
            <a:ext cx="1703446" cy="164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637500" y="1517053"/>
            <a:ext cx="2499402" cy="337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2" charset="-127"/>
                <a:ea typeface="나눔스퀘어 네오 OTF Bold" panose="00000900000000000000" pitchFamily="2" charset="-127"/>
              </a:defRPr>
            </a:lvl1pPr>
          </a:lstStyle>
          <a:p>
            <a:pPr algn="l"/>
            <a:r>
              <a:rPr lang="en-US" altLang="ko-KR" sz="1584" spc="0" dirty="0">
                <a:latin typeface="나눔스퀘어 네오 OTF Bold"/>
                <a:ea typeface="나눔스퀘어 네오 OTF Bold"/>
              </a:rPr>
              <a:t>TABLE OF CONTENTS</a:t>
            </a:r>
            <a:endParaRPr lang="ko-KR" altLang="en-US" sz="1584" spc="0" dirty="0">
              <a:latin typeface="나눔스퀘어 네오 OTF Bold"/>
              <a:ea typeface="나눔스퀘어 네오 OTF Bold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937043" y="3960316"/>
            <a:ext cx="395861" cy="373193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1013090" y="5786056"/>
            <a:ext cx="264383" cy="249243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</p:spTree>
    <p:extLst>
      <p:ext uri="{BB962C8B-B14F-4D97-AF65-F5344CB8AC3E}">
        <p14:creationId xmlns:p14="http://schemas.microsoft.com/office/powerpoint/2010/main" val="3150995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E54452-7FD0-657A-1F2D-D297E442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6727" y="7157194"/>
            <a:ext cx="494991" cy="402483"/>
          </a:xfrm>
        </p:spPr>
        <p:txBody>
          <a:bodyPr/>
          <a:lstStyle>
            <a:lvl1pPr algn="r">
              <a:defRPr sz="693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69D232EE-31E2-C8ED-C6A7-F27960CBA9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059" t="-19957" r="2368" b="10975"/>
          <a:stretch/>
        </p:blipFill>
        <p:spPr>
          <a:xfrm>
            <a:off x="1" y="1587250"/>
            <a:ext cx="10691813" cy="5972425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4B5D0A1-D498-0F76-F8D5-E764FDDA3A81}"/>
              </a:ext>
            </a:extLst>
          </p:cNvPr>
          <p:cNvSpPr/>
          <p:nvPr userDrawn="1"/>
        </p:nvSpPr>
        <p:spPr>
          <a:xfrm>
            <a:off x="1800727" y="3696505"/>
            <a:ext cx="233531" cy="22015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AB9024-B0A9-7454-3A53-F627B35A5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063" y="3422095"/>
            <a:ext cx="9221689" cy="370081"/>
          </a:xfrm>
        </p:spPr>
        <p:txBody>
          <a:bodyPr anchor="b">
            <a:spAutoFit/>
          </a:bodyPr>
          <a:lstStyle>
            <a:lvl1pPr algn="ctr">
              <a:defRPr lang="ko-KR" altLang="en-US" sz="1980" spc="-99" baseline="0">
                <a:solidFill>
                  <a:schemeClr val="bg1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pPr marL="0" lvl="0" algn="ctr"/>
            <a:r>
              <a:rPr lang="ko-KR" altLang="en-US" dirty="0"/>
              <a:t>간지 내용을 입력하세요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46B12FA-6F28-714D-9019-455ABEE11D96}"/>
              </a:ext>
            </a:extLst>
          </p:cNvPr>
          <p:cNvSpPr/>
          <p:nvPr userDrawn="1"/>
        </p:nvSpPr>
        <p:spPr>
          <a:xfrm>
            <a:off x="7966338" y="5034552"/>
            <a:ext cx="369523" cy="348363"/>
          </a:xfrm>
          <a:prstGeom prst="ellipse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F6002C5-8F47-526E-33DD-1B6646248FC0}"/>
              </a:ext>
            </a:extLst>
          </p:cNvPr>
          <p:cNvSpPr/>
          <p:nvPr userDrawn="1"/>
        </p:nvSpPr>
        <p:spPr>
          <a:xfrm>
            <a:off x="977269" y="5809972"/>
            <a:ext cx="111607" cy="10521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F48A56-5D8E-201E-CF21-74EE5D3C4E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557" y="3142415"/>
            <a:ext cx="1116700" cy="1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2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9906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89275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3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gray"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9906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943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9906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bg1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184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9906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bg1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6472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7555658" y="1"/>
            <a:ext cx="3136159" cy="7559675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2" y="250352"/>
            <a:ext cx="6832014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AFE2F2D2-F49B-9B7D-4BFE-109C1FEB8753}"/>
              </a:ext>
            </a:extLst>
          </p:cNvPr>
          <p:cNvCxnSpPr>
            <a:cxnSpLocks/>
          </p:cNvCxnSpPr>
          <p:nvPr userDrawn="1"/>
        </p:nvCxnSpPr>
        <p:spPr>
          <a:xfrm>
            <a:off x="420937" y="618344"/>
            <a:ext cx="6730697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554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7555658" y="1"/>
            <a:ext cx="3136159" cy="7559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2" y="250352"/>
            <a:ext cx="6832014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420937" y="618344"/>
            <a:ext cx="6730697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51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7555658" y="1"/>
            <a:ext cx="3136159" cy="75596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2" y="250352"/>
            <a:ext cx="6832014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420937" y="618344"/>
            <a:ext cx="6730697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84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5C9DEE1-FF56-A4E9-3801-60197FD2AFBA}"/>
              </a:ext>
            </a:extLst>
          </p:cNvPr>
          <p:cNvSpPr/>
          <p:nvPr userDrawn="1"/>
        </p:nvSpPr>
        <p:spPr>
          <a:xfrm>
            <a:off x="1" y="5218977"/>
            <a:ext cx="10691814" cy="2340698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6450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588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1" y="5218977"/>
            <a:ext cx="10691814" cy="23406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6450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789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1" y="5218977"/>
            <a:ext cx="10691814" cy="234069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6450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11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7252614" y="918361"/>
            <a:ext cx="3439201" cy="6047161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6450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257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7252614" y="918361"/>
            <a:ext cx="3439201" cy="60471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6450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224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7252614" y="918361"/>
            <a:ext cx="3439201" cy="604716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6450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225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37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1" y="604781"/>
            <a:ext cx="10691813" cy="64156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4365514" y="742103"/>
            <a:ext cx="1960793" cy="2611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89" dirty="0">
                <a:solidFill>
                  <a:schemeClr val="bg1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rPr>
              <a:t>Software for Safe World</a:t>
            </a:r>
            <a:endParaRPr lang="ko-KR" altLang="en-US" sz="1089" dirty="0">
              <a:solidFill>
                <a:schemeClr val="bg1">
                  <a:lumMod val="50000"/>
                </a:schemeClr>
              </a:solidFill>
              <a:latin typeface="나눔스퀘어 네오 OTF Bold" panose="00000900000000000000" pitchFamily="50" charset="-127"/>
              <a:ea typeface="나눔스퀘어 네오 OTF 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368" y="558044"/>
            <a:ext cx="1277078" cy="12343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6114978" y="6946162"/>
            <a:ext cx="4155722" cy="223440"/>
          </a:xfrm>
          <a:prstGeom prst="rect">
            <a:avLst/>
          </a:prstGeom>
          <a:ln>
            <a:noFill/>
          </a:ln>
        </p:spPr>
        <p:txBody>
          <a:bodyPr vert="horz" wrap="square" lIns="89100" tIns="45263" rIns="0" bIns="45263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나눔스퀘어 네오 OTF Bold"/>
                <a:cs typeface="나눔스퀘어 네오 OTF Bold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9pPr>
          </a:lstStyle>
          <a:p>
            <a:pPr lvl="0"/>
            <a:r>
              <a:rPr lang="en-US" altLang="x-none" sz="940" dirty="0"/>
              <a:t>ⓒ 2026. </a:t>
            </a:r>
            <a:r>
              <a:rPr lang="en-US" altLang="x-none" sz="940" dirty="0" err="1"/>
              <a:t>Suresofttech</a:t>
            </a:r>
            <a:r>
              <a:rPr lang="en-US" altLang="x-none" sz="940" dirty="0"/>
              <a:t> Inc. All rights reserved.</a:t>
            </a:r>
            <a:endParaRPr lang="x-none" altLang="en-US" sz="94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F1A4F-62F5-46A4-8EF0-D406C19CB50E}"/>
              </a:ext>
            </a:extLst>
          </p:cNvPr>
          <p:cNvSpPr txBox="1"/>
          <p:nvPr userDrawn="1"/>
        </p:nvSpPr>
        <p:spPr>
          <a:xfrm>
            <a:off x="4109831" y="3154856"/>
            <a:ext cx="2472152" cy="64662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ct val="120000"/>
              </a:lnSpc>
              <a:spcAft>
                <a:spcPts val="594"/>
              </a:spcAft>
            </a:pPr>
            <a:r>
              <a:rPr kumimoji="0" lang="en-US" altLang="ko-KR" sz="3168" b="0" i="0" u="none" strike="noStrike" kern="1200" cap="none" spc="0" normalizeH="0" baseline="0" noProof="0" dirty="0">
                <a:ln>
                  <a:noFill/>
                </a:ln>
                <a:solidFill>
                  <a:srgbClr val="002878"/>
                </a:solidFill>
                <a:effectLst/>
                <a:uLnTx/>
                <a:uFillTx/>
                <a:latin typeface="나눔스퀘어 네오 OTF Bold" panose="00000A00000000000000" pitchFamily="50" charset="-127"/>
                <a:ea typeface="나눔스퀘어 네오 OTF Bold" panose="00000A00000000000000" pitchFamily="50" charset="-127"/>
                <a:cs typeface="나눔스퀘어 네오 OTF Bold"/>
              </a:rPr>
              <a:t>Thank You</a:t>
            </a:r>
            <a:endParaRPr lang="ko-KR" altLang="en-US" sz="3168" dirty="0">
              <a:solidFill>
                <a:srgbClr val="002878"/>
              </a:solidFill>
              <a:latin typeface="나눔스퀘어 네오 OTF Bold" panose="00000A00000000000000" pitchFamily="50" charset="-127"/>
              <a:ea typeface="나눔스퀘어 네오 OTF Bold" panose="00000A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8495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제목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날짜 개체 틀 13">
            <a:extLst>
              <a:ext uri="{FF2B5EF4-FFF2-40B4-BE49-F238E27FC236}">
                <a16:creationId xmlns:a16="http://schemas.microsoft.com/office/drawing/2014/main" id="{03FFA564-52AC-B048-8306-BBE33A84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4E54E667-CCE4-B248-A865-D740AF1C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31EE639-32F2-F448-A10F-42C83F548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9939" y="346366"/>
            <a:ext cx="399891" cy="200532"/>
          </a:xfrm>
          <a:prstGeom prst="rect">
            <a:avLst/>
          </a:prstGeom>
        </p:spPr>
        <p:txBody>
          <a:bodyPr vert="horz" lIns="0" tIns="0" rIns="0" bIns="46800" rtlCol="0" anchor="ctr">
            <a:spAutoFit/>
          </a:bodyPr>
          <a:lstStyle>
            <a:lvl1pPr algn="r">
              <a:defRPr sz="99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OTF Bold" panose="00000500000000000000" pitchFamily="50" charset="-127"/>
                <a:ea typeface="나눔스퀘어 네오 OTF Bold" panose="020B0503020000020004" pitchFamily="50" charset="-127"/>
                <a:cs typeface="나눔스퀘어 네오 OTF Bold" panose="020B0604020202020204" pitchFamily="34" charset="0"/>
              </a:defRPr>
            </a:lvl1pPr>
          </a:lstStyle>
          <a:p>
            <a:fld id="{9900B02E-8AB5-43FE-AC7E-4FB227A4939C}" type="slidenum">
              <a:rPr lang="en-US" altLang="ko-KR" smtClean="0"/>
              <a:pPr/>
              <a:t>‹#›</a:t>
            </a:fld>
            <a:endParaRPr lang="en-US" dirty="0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FF3EFFCF-8EA0-DA4B-8D39-C44C0ACB3D85}"/>
              </a:ext>
            </a:extLst>
          </p:cNvPr>
          <p:cNvCxnSpPr>
            <a:cxnSpLocks/>
          </p:cNvCxnSpPr>
          <p:nvPr/>
        </p:nvCxnSpPr>
        <p:spPr>
          <a:xfrm>
            <a:off x="420938" y="618344"/>
            <a:ext cx="9849938" cy="0"/>
          </a:xfrm>
          <a:prstGeom prst="line">
            <a:avLst/>
          </a:prstGeom>
          <a:ln>
            <a:solidFill>
              <a:srgbClr val="C1C8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개체 틀 12">
            <a:extLst>
              <a:ext uri="{FF2B5EF4-FFF2-40B4-BE49-F238E27FC236}">
                <a16:creationId xmlns:a16="http://schemas.microsoft.com/office/drawing/2014/main" id="{A6176F38-10E2-AA4F-BEBA-880BAF51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86" y="241055"/>
            <a:ext cx="9221689" cy="286908"/>
          </a:xfrm>
          <a:prstGeom prst="rect">
            <a:avLst/>
          </a:prstGeom>
        </p:spPr>
        <p:txBody>
          <a:bodyPr vert="horz" lIns="18000" tIns="72000" rIns="91440" bIns="46800" rtlCol="0" anchor="ctr">
            <a:spAutoFit/>
          </a:bodyPr>
          <a:lstStyle/>
          <a:p>
            <a:r>
              <a:rPr kumimoji="1" lang="ko-KR" altLang="en-US"/>
              <a:t>마스터 제목 스타일 편집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2376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9622" y="250354"/>
            <a:ext cx="9221689" cy="25915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621" y="880753"/>
            <a:ext cx="10045498" cy="142228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9623" y="7157193"/>
            <a:ext cx="282109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4" y="7157193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9293" y="7157193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693" smtClean="0"/>
            </a:lvl1pPr>
          </a:lstStyle>
          <a:p>
            <a:pPr algn="r"/>
            <a:fld id="{5BCDA562-D163-4743-A5E0-EF338EDE3E78}" type="slidenum">
              <a:rPr lang="en-US" altLang="ko-KR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0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75" r:id="rId4"/>
    <p:sldLayoutId id="2147483697" r:id="rId5"/>
    <p:sldLayoutId id="2147483676" r:id="rId6"/>
    <p:sldLayoutId id="2147483698" r:id="rId7"/>
    <p:sldLayoutId id="2147483677" r:id="rId8"/>
    <p:sldLayoutId id="2147483681" r:id="rId9"/>
    <p:sldLayoutId id="2147483682" r:id="rId10"/>
    <p:sldLayoutId id="2147483683" r:id="rId11"/>
    <p:sldLayoutId id="2147483693" r:id="rId12"/>
    <p:sldLayoutId id="2147483686" r:id="rId13"/>
    <p:sldLayoutId id="2147483684" r:id="rId14"/>
    <p:sldLayoutId id="2147483694" r:id="rId15"/>
    <p:sldLayoutId id="2147483687" r:id="rId16"/>
    <p:sldLayoutId id="2147483688" r:id="rId17"/>
    <p:sldLayoutId id="2147483695" r:id="rId18"/>
    <p:sldLayoutId id="2147483690" r:id="rId19"/>
    <p:sldLayoutId id="2147483689" r:id="rId20"/>
    <p:sldLayoutId id="2147483696" r:id="rId21"/>
    <p:sldLayoutId id="2147483667" r:id="rId22"/>
    <p:sldLayoutId id="2147483691" r:id="rId23"/>
    <p:sldLayoutId id="2147483692" r:id="rId24"/>
  </p:sldLayoutIdLst>
  <p:hf hdr="0" ftr="0" dt="0"/>
  <p:txStyles>
    <p:titleStyle>
      <a:lvl1pPr algn="l" defTabSz="905256" rtl="0" eaLnBrk="1" latinLnBrk="1" hangingPunct="1">
        <a:lnSpc>
          <a:spcPct val="90000"/>
        </a:lnSpc>
        <a:spcBef>
          <a:spcPct val="0"/>
        </a:spcBef>
        <a:buNone/>
        <a:defRPr lang="en-US" altLang="en-US" sz="1188" kern="1200" dirty="0">
          <a:solidFill>
            <a:schemeClr val="tx2">
              <a:lumMod val="50000"/>
            </a:schemeClr>
          </a:solidFill>
          <a:latin typeface="나눔스퀘어 네오 OTF Bold" panose="00000900000000000000" pitchFamily="50" charset="-127"/>
          <a:ea typeface="나눔스퀘어 네오 OTF Bold" panose="00000900000000000000" pitchFamily="50" charset="-127"/>
          <a:cs typeface="나눔스퀘어 네오 OTF Bold"/>
        </a:defRPr>
      </a:lvl1pPr>
    </p:titleStyle>
    <p:bodyStyle>
      <a:lvl1pPr marL="0" indent="0" algn="l" defTabSz="905256" rtl="0" eaLnBrk="1" latinLnBrk="1" hangingPunct="1">
        <a:lnSpc>
          <a:spcPct val="120000"/>
        </a:lnSpc>
        <a:spcBef>
          <a:spcPts val="297"/>
        </a:spcBef>
        <a:spcAft>
          <a:spcPts val="297"/>
        </a:spcAft>
        <a:buFontTx/>
        <a:buNone/>
        <a:defRPr sz="1386" kern="1200">
          <a:solidFill>
            <a:schemeClr val="tx1"/>
          </a:solidFill>
          <a:latin typeface="나눔스퀘어 네오 OTF Bold" panose="00000900000000000000" pitchFamily="50" charset="-127"/>
          <a:ea typeface="나눔스퀘어 네오 OTF Bold" panose="00000900000000000000" pitchFamily="50" charset="-127"/>
          <a:cs typeface="나눔스퀘어 네오 OTF Bold"/>
        </a:defRPr>
      </a:lvl1pPr>
      <a:lvl2pPr marL="142560" indent="-142560" algn="l" defTabSz="905256" rtl="0" eaLnBrk="1" latinLnBrk="1" hangingPunct="1">
        <a:lnSpc>
          <a:spcPct val="120000"/>
        </a:lnSpc>
        <a:spcBef>
          <a:spcPts val="594"/>
        </a:spcBef>
        <a:spcAft>
          <a:spcPts val="396"/>
        </a:spcAft>
        <a:buFont typeface="나눔스퀘어 네오 OTF Bold" panose="05000000000000000000" pitchFamily="2" charset="2"/>
        <a:buChar char="§"/>
        <a:defRPr sz="1188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2pPr>
      <a:lvl3pPr marL="285120" indent="-106920" algn="l" defTabSz="905256" rtl="0" eaLnBrk="1" latinLnBrk="1" hangingPunct="1">
        <a:lnSpc>
          <a:spcPct val="110000"/>
        </a:lnSpc>
        <a:spcBef>
          <a:spcPts val="495"/>
        </a:spcBef>
        <a:spcAft>
          <a:spcPts val="297"/>
        </a:spcAft>
        <a:buFont typeface="나눔스퀘어 네오 OTF Bold" panose="020B0604020202020204" pitchFamily="34" charset="0"/>
        <a:buChar char="•"/>
        <a:defRPr sz="1089" kern="1200">
          <a:solidFill>
            <a:schemeClr val="tx1"/>
          </a:solidFill>
          <a:latin typeface="나눔스퀘어 네오 OTF Bold" panose="00000800000000000000" pitchFamily="50" charset="-127"/>
          <a:ea typeface="나눔스퀘어 네오 OTF Bold" panose="00000800000000000000" pitchFamily="50" charset="-127"/>
          <a:cs typeface="나눔스퀘어 네오 OTF Bold"/>
        </a:defRPr>
      </a:lvl3pPr>
      <a:lvl4pPr marL="427680" indent="-106920" algn="l" defTabSz="905256" rtl="0" eaLnBrk="1" latinLnBrk="1" hangingPunct="1">
        <a:lnSpc>
          <a:spcPct val="110000"/>
        </a:lnSpc>
        <a:spcBef>
          <a:spcPts val="198"/>
        </a:spcBef>
        <a:spcAft>
          <a:spcPts val="198"/>
        </a:spcAft>
        <a:buFont typeface="나눔스퀘어 네오 OTF Bold" panose="00000500000000000000" pitchFamily="50" charset="-127"/>
        <a:buChar char="-"/>
        <a:defRPr sz="990" kern="1200">
          <a:solidFill>
            <a:schemeClr val="tx1"/>
          </a:solidFill>
          <a:latin typeface="나눔스퀘어 네오 OTF Bold" panose="00000500000000000000" pitchFamily="50" charset="-127"/>
          <a:ea typeface="나눔스퀘어 네오 OTF Bold" panose="00000500000000000000" pitchFamily="50" charset="-127"/>
          <a:cs typeface="나눔스퀘어 네오 OTF Bold"/>
        </a:defRPr>
      </a:lvl4pPr>
      <a:lvl5pPr marL="498960" indent="-106920" algn="l" defTabSz="905256" rtl="0" eaLnBrk="1" latinLnBrk="1" hangingPunct="1">
        <a:lnSpc>
          <a:spcPct val="100000"/>
        </a:lnSpc>
        <a:spcBef>
          <a:spcPts val="297"/>
        </a:spcBef>
        <a:spcAft>
          <a:spcPts val="198"/>
        </a:spcAft>
        <a:buFont typeface="나눔스퀘어 네오 OTF Bold" panose="00000800000000000000" pitchFamily="50" charset="-127"/>
        <a:buChar char="＊"/>
        <a:defRPr sz="891" kern="1200">
          <a:solidFill>
            <a:schemeClr val="tx1"/>
          </a:solidFill>
          <a:latin typeface="나눔스퀘어 네오 OTF Bold" panose="00000400000000000000" pitchFamily="50" charset="-127"/>
          <a:ea typeface="나눔스퀘어 네오 OTF Bold" panose="00000400000000000000" pitchFamily="50" charset="-127"/>
          <a:cs typeface="나눔스퀘어 네오 OTF Bold"/>
        </a:defRPr>
      </a:lvl5pPr>
      <a:lvl6pPr marL="2489454" indent="-226314" algn="l" defTabSz="905256" rtl="0" eaLnBrk="1" latinLnBrk="1" hangingPunct="1">
        <a:lnSpc>
          <a:spcPct val="90000"/>
        </a:lnSpc>
        <a:spcBef>
          <a:spcPts val="495"/>
        </a:spcBef>
        <a:buFont typeface="나눔스퀘어 네오 OTF Bold" panose="020B0604020202020204" pitchFamily="34" charset="0"/>
        <a:buChar char="•"/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6pPr>
      <a:lvl7pPr marL="2942082" indent="-226314" algn="l" defTabSz="905256" rtl="0" eaLnBrk="1" latinLnBrk="1" hangingPunct="1">
        <a:lnSpc>
          <a:spcPct val="90000"/>
        </a:lnSpc>
        <a:spcBef>
          <a:spcPts val="495"/>
        </a:spcBef>
        <a:buFont typeface="나눔스퀘어 네오 OTF Bold" panose="020B0604020202020204" pitchFamily="34" charset="0"/>
        <a:buChar char="•"/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7pPr>
      <a:lvl8pPr marL="3394710" indent="-226314" algn="l" defTabSz="905256" rtl="0" eaLnBrk="1" latinLnBrk="1" hangingPunct="1">
        <a:lnSpc>
          <a:spcPct val="90000"/>
        </a:lnSpc>
        <a:spcBef>
          <a:spcPts val="495"/>
        </a:spcBef>
        <a:buFont typeface="나눔스퀘어 네오 OTF Bold" panose="020B0604020202020204" pitchFamily="34" charset="0"/>
        <a:buChar char="•"/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8pPr>
      <a:lvl9pPr marL="3847338" indent="-226314" algn="l" defTabSz="905256" rtl="0" eaLnBrk="1" latinLnBrk="1" hangingPunct="1">
        <a:lnSpc>
          <a:spcPct val="90000"/>
        </a:lnSpc>
        <a:spcBef>
          <a:spcPts val="495"/>
        </a:spcBef>
        <a:buFont typeface="나눔스퀘어 네오 OTF Bold" panose="020B0604020202020204" pitchFamily="34" charset="0"/>
        <a:buChar char="•"/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9pPr>
    </p:bodyStyle>
    <p:otherStyle>
      <a:defPPr>
        <a:defRPr lang="en-US"/>
      </a:defPPr>
      <a:lvl1pPr marL="0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1pPr>
      <a:lvl2pPr marL="452628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2pPr>
      <a:lvl3pPr marL="905256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3pPr>
      <a:lvl4pPr marL="1357884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4pPr>
      <a:lvl5pPr marL="1810512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5pPr>
      <a:lvl6pPr marL="2263140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6pPr>
      <a:lvl7pPr marL="2715768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7pPr>
      <a:lvl8pPr marL="3168396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8pPr>
      <a:lvl9pPr marL="3621024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2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microsoft.com/office/2007/relationships/hdphoto" Target="../media/hdphoto2.wdp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microsoft.com/office/2007/relationships/hdphoto" Target="../media/hdphoto3.wdp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1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5F259-5AD2-47D5-AEE8-5EC65EADEB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2026.09.02 </a:t>
            </a:r>
            <a:r>
              <a:rPr lang="ko-KR" altLang="en-US"/>
              <a:t>진행 상황 공유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3AADEFE-FC6A-45D0-BD79-F0D930393D92}"/>
              </a:ext>
            </a:extLst>
          </p:cNvPr>
          <p:cNvSpPr txBox="1">
            <a:spLocks/>
          </p:cNvSpPr>
          <p:nvPr/>
        </p:nvSpPr>
        <p:spPr>
          <a:xfrm>
            <a:off x="2198069" y="4079290"/>
            <a:ext cx="6295674" cy="312191"/>
          </a:xfrm>
          <a:prstGeom prst="rect">
            <a:avLst/>
          </a:prstGeom>
          <a:noFill/>
        </p:spPr>
        <p:txBody>
          <a:bodyPr vert="horz" wrap="square" lIns="90526" tIns="45263" rIns="90526" bIns="45263" rtlCol="0" anchor="ctr">
            <a:sp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1600" kern="1200" spc="-70" dirty="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  <a:cs typeface="나눔스퀘어 네오 OTF Bold"/>
              </a:defRPr>
            </a:lvl1pPr>
          </a:lstStyle>
          <a:p>
            <a:r>
              <a:rPr lang="ko-KR" altLang="en-US" sz="1584">
                <a:solidFill>
                  <a:schemeClr val="tx1"/>
                </a:solidFill>
              </a:rPr>
              <a:t>자율 주차 기능 </a:t>
            </a:r>
            <a:r>
              <a:rPr lang="en-US" altLang="ko-KR" sz="1584">
                <a:solidFill>
                  <a:schemeClr val="tx1"/>
                </a:solidFill>
              </a:rPr>
              <a:t>UX </a:t>
            </a:r>
            <a:r>
              <a:rPr lang="ko-KR" altLang="en-US" sz="1584">
                <a:solidFill>
                  <a:schemeClr val="tx1"/>
                </a:solidFill>
              </a:rPr>
              <a:t>표출 성능 법규 정합성 평가를 위한 </a:t>
            </a:r>
            <a:r>
              <a:rPr lang="en-US" altLang="ko-KR" sz="1584">
                <a:solidFill>
                  <a:schemeClr val="tx1"/>
                </a:solidFill>
              </a:rPr>
              <a:t>sw tool </a:t>
            </a:r>
            <a:r>
              <a:rPr lang="ko-KR" altLang="en-US" sz="1584">
                <a:solidFill>
                  <a:schemeClr val="tx1"/>
                </a:solidFill>
              </a:rPr>
              <a:t>개발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CC7426-D2EC-4C4A-B866-DCEDF6795763}"/>
              </a:ext>
            </a:extLst>
          </p:cNvPr>
          <p:cNvSpPr/>
          <p:nvPr/>
        </p:nvSpPr>
        <p:spPr>
          <a:xfrm>
            <a:off x="240828" y="6983669"/>
            <a:ext cx="2199987" cy="365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91" b="1">
                <a:solidFill>
                  <a:schemeClr val="tx1">
                    <a:lumMod val="50000"/>
                    <a:lumOff val="50000"/>
                  </a:schemeClr>
                </a:solidFill>
                <a:latin typeface="나눔스퀘어 네오 OTF Bold" panose="020B0600000101010101" pitchFamily="34" charset="-127"/>
                <a:ea typeface="나눔스퀘어 네오 OTF Bold" panose="020B0600000101010101" pitchFamily="34" charset="-127"/>
              </a:rPr>
              <a:t>2026.08.21 rev0.3</a:t>
            </a:r>
          </a:p>
          <a:p>
            <a:r>
              <a:rPr lang="en-US" altLang="ko-KR" sz="891" b="1">
                <a:solidFill>
                  <a:schemeClr val="tx1">
                    <a:lumMod val="50000"/>
                    <a:lumOff val="50000"/>
                  </a:schemeClr>
                </a:solidFill>
                <a:latin typeface="나눔스퀘어 네오 OTF Bold" panose="020B0600000101010101" pitchFamily="34" charset="-127"/>
                <a:ea typeface="나눔스퀘어 네오 OTF Bold" panose="020B0600000101010101" pitchFamily="34" charset="-127"/>
              </a:rPr>
              <a:t>차량검증자동화실</a:t>
            </a:r>
          </a:p>
        </p:txBody>
      </p:sp>
    </p:spTree>
    <p:extLst>
      <p:ext uri="{BB962C8B-B14F-4D97-AF65-F5344CB8AC3E}">
        <p14:creationId xmlns:p14="http://schemas.microsoft.com/office/powerpoint/2010/main" val="1551400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222B5-D6F0-4947-B246-583D903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>
                <a:latin typeface="+mj-ea"/>
              </a:rPr>
              <a:t>1. 과제 개요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2</a:t>
            </a:fld>
            <a:endParaRPr kumimoji="1" lang="x-none" altLang="en-US" sz="882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F2CD046-CF5F-4CA5-8DC2-F6D86E3FF281}"/>
              </a:ext>
            </a:extLst>
          </p:cNvPr>
          <p:cNvGraphicFramePr>
            <a:graphicFrameLocks noGrp="1"/>
          </p:cNvGraphicFramePr>
          <p:nvPr/>
        </p:nvGraphicFramePr>
        <p:xfrm>
          <a:off x="703357" y="732607"/>
          <a:ext cx="9246602" cy="6496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970">
                  <a:extLst>
                    <a:ext uri="{9D8B030D-6E8A-4147-A177-3AD203B41FA5}">
                      <a16:colId xmlns:a16="http://schemas.microsoft.com/office/drawing/2014/main" val="1523889373"/>
                    </a:ext>
                  </a:extLst>
                </a:gridCol>
                <a:gridCol w="7737632">
                  <a:extLst>
                    <a:ext uri="{9D8B030D-6E8A-4147-A177-3AD203B41FA5}">
                      <a16:colId xmlns:a16="http://schemas.microsoft.com/office/drawing/2014/main" val="16595272"/>
                    </a:ext>
                  </a:extLst>
                </a:gridCol>
              </a:tblGrid>
              <a:tr h="444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프로젝트 명</a:t>
                      </a: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자율주차 기능 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UX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표출 성능 법규 정합성 평가를 위한 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 Tool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en-US" altLang="ko-KR" sz="130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304590"/>
                  </a:ext>
                </a:extLst>
              </a:tr>
              <a:tr h="13453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배경 및 목적</a:t>
                      </a: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다중 신호 융합 시험 자동화를 통한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유럽 법규 신뢰성 검증 체계 고도화</a:t>
                      </a:r>
                      <a:endParaRPr lang="en-US" altLang="ko-KR" sz="13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457200" lvl="1" indent="-2286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실차 환경 실시간 시험 및 검증  자동화를 통한 </a:t>
                      </a:r>
                      <a:r>
                        <a:rPr lang="ko-KR" altLang="en-US" sz="1200" b="1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다차종 시험 비용 저감</a:t>
                      </a:r>
                      <a:br>
                        <a:rPr lang="en-US" altLang="ko-KR" sz="1200" b="1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</a:b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  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특히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입력 신호들간의 타이밍 차이 수동 측정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계산 어려움 극복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1" indent="-2286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법규 인증에 필요한 평가 근거 리포트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(Evidence)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자동 생성을 통한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보고 업무 비용 저감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925845"/>
                  </a:ext>
                </a:extLst>
              </a:tr>
              <a:tr h="38159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주요 추진 내용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+mn-lt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087276"/>
                  </a:ext>
                </a:extLst>
              </a:tr>
              <a:tr h="444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일정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2026.7.01 – 2026.12.15</a:t>
                      </a:r>
                      <a:endParaRPr lang="ko-KR" altLang="en-US" sz="1300" b="0" kern="1200" dirty="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953186"/>
                  </a:ext>
                </a:extLst>
              </a:tr>
              <a:tr h="444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dirty="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고객 요청 일정에 맞춰 추진하기 </a:t>
                      </a:r>
                      <a:r>
                        <a:rPr lang="ko-KR" altLang="en-US" sz="13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위해 개발자 </a:t>
                      </a:r>
                      <a:r>
                        <a:rPr lang="en-US" altLang="ko-KR" sz="1300" b="0" kern="1200" dirty="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300" b="0" kern="1200" dirty="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명 동시 투입 </a:t>
                      </a:r>
                      <a:endParaRPr lang="ko-KR" altLang="en-US" sz="1300" b="0" kern="1200" dirty="0">
                        <a:solidFill>
                          <a:schemeClr val="tx1"/>
                        </a:solidFill>
                        <a:latin typeface="+mn-lt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642012"/>
                  </a:ext>
                </a:extLst>
              </a:tr>
            </a:tbl>
          </a:graphicData>
        </a:graphic>
      </p:graphicFrame>
      <p:graphicFrame>
        <p:nvGraphicFramePr>
          <p:cNvPr id="7" name="표 24">
            <a:extLst>
              <a:ext uri="{FF2B5EF4-FFF2-40B4-BE49-F238E27FC236}">
                <a16:creationId xmlns:a16="http://schemas.microsoft.com/office/drawing/2014/main" id="{9941ED3B-1D06-45FE-B907-DF74A6DEEFCE}"/>
              </a:ext>
            </a:extLst>
          </p:cNvPr>
          <p:cNvGraphicFramePr>
            <a:graphicFrameLocks noGrp="1"/>
          </p:cNvGraphicFramePr>
          <p:nvPr/>
        </p:nvGraphicFramePr>
        <p:xfrm>
          <a:off x="2261116" y="2630098"/>
          <a:ext cx="7638708" cy="334327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436279">
                  <a:extLst>
                    <a:ext uri="{9D8B030D-6E8A-4147-A177-3AD203B41FA5}">
                      <a16:colId xmlns:a16="http://schemas.microsoft.com/office/drawing/2014/main" val="300798795"/>
                    </a:ext>
                  </a:extLst>
                </a:gridCol>
                <a:gridCol w="2591831">
                  <a:extLst>
                    <a:ext uri="{9D8B030D-6E8A-4147-A177-3AD203B41FA5}">
                      <a16:colId xmlns:a16="http://schemas.microsoft.com/office/drawing/2014/main" val="1379468149"/>
                    </a:ext>
                  </a:extLst>
                </a:gridCol>
                <a:gridCol w="3247407">
                  <a:extLst>
                    <a:ext uri="{9D8B030D-6E8A-4147-A177-3AD203B41FA5}">
                      <a16:colId xmlns:a16="http://schemas.microsoft.com/office/drawing/2014/main" val="2583330551"/>
                    </a:ext>
                  </a:extLst>
                </a:gridCol>
                <a:gridCol w="1363191">
                  <a:extLst>
                    <a:ext uri="{9D8B030D-6E8A-4147-A177-3AD203B41FA5}">
                      <a16:colId xmlns:a16="http://schemas.microsoft.com/office/drawing/2014/main" val="3994358081"/>
                    </a:ext>
                  </a:extLst>
                </a:gridCol>
              </a:tblGrid>
              <a:tr h="358346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300">
                          <a:solidFill>
                            <a:sysClr val="windowText" lastClr="000000"/>
                          </a:solidFill>
                        </a:rPr>
                        <a:t>항목</a:t>
                      </a:r>
                      <a:endParaRPr lang="en-US" sz="1300">
                        <a:solidFill>
                          <a:sysClr val="windowText" lastClr="000000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항목</a:t>
                      </a:r>
                      <a:endParaRPr lang="en-US" sz="1200">
                        <a:solidFill>
                          <a:sysClr val="windowText" lastClr="000000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>
                          <a:solidFill>
                            <a:sysClr val="windowText" lastClr="000000"/>
                          </a:solidFill>
                        </a:rPr>
                        <a:t>주요 내용</a:t>
                      </a:r>
                      <a:endParaRPr lang="en-US" sz="1300">
                        <a:solidFill>
                          <a:sysClr val="windowText" lastClr="000000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>
                          <a:solidFill>
                            <a:sysClr val="windowText" lastClr="000000"/>
                          </a:solidFill>
                        </a:rPr>
                        <a:t>비고</a:t>
                      </a:r>
                      <a:endParaRPr lang="en-US" sz="1300">
                        <a:solidFill>
                          <a:sysClr val="windowText" lastClr="000000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237021"/>
                  </a:ext>
                </a:extLst>
              </a:tr>
              <a:tr h="338436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신규 커스터마이즈 개발 항목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법규 데이터 계측 및 검증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7E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</a:rPr>
                        <a:t>차량 계측 시험 데이터 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</a:rPr>
                        <a:t>(.dat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</a:rPr>
                        <a:t>또는 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</a:rPr>
                        <a:t>.mf4)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</a:rPr>
                        <a:t>후처리 및 시각화</a:t>
                      </a:r>
                      <a:endParaRPr lang="en-US" altLang="ko-KR" sz="1050" kern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90044"/>
                  </a:ext>
                </a:extLst>
              </a:tr>
              <a:tr h="5375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1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UNECE </a:t>
                      </a: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R158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  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(17.3 Response time)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후방 장애물 감지 장치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(PDW)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 검증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60153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2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UNECE </a:t>
                      </a: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R175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  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(Part 5)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가속 제어 페달 오조작 방지 장치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(ACPE)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검증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(=PMSA)</a:t>
                      </a: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792765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3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Euro </a:t>
                      </a: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NCAP</a:t>
                      </a: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긴급제동 전 경고 발생 여부 검증</a:t>
                      </a: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176302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4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차종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/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제어기별 결과 시각화</a:t>
                      </a: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범주 별 신호 필터링 및 계측 모니터링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/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결과 표출</a:t>
                      </a: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465114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5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법규 별 보고서 생성</a:t>
                      </a: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검증 결과 보고서 자동 생성</a:t>
                      </a: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차종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/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제어기</a:t>
                      </a: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21561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6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다중 입력 데이터 처리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음향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,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영상 프레임 분석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및 차량신호와 동기화</a:t>
                      </a:r>
                      <a:endParaRPr lang="en-US" altLang="ko-KR" sz="1200" b="0" kern="1200">
                        <a:solidFill>
                          <a:srgbClr val="FF0000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7088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7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시험구간 자동 계측 및 판정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테스트케이스 검증 자동화 프레임워크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562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057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사각형: 둥근 모서리 229">
            <a:extLst>
              <a:ext uri="{FF2B5EF4-FFF2-40B4-BE49-F238E27FC236}">
                <a16:creationId xmlns:a16="http://schemas.microsoft.com/office/drawing/2014/main" id="{2C741122-5029-4DBF-BB30-A93D14F27262}"/>
              </a:ext>
            </a:extLst>
          </p:cNvPr>
          <p:cNvSpPr/>
          <p:nvPr/>
        </p:nvSpPr>
        <p:spPr>
          <a:xfrm>
            <a:off x="7475476" y="1308033"/>
            <a:ext cx="2226654" cy="2444260"/>
          </a:xfrm>
          <a:prstGeom prst="roundRect">
            <a:avLst>
              <a:gd name="adj" fmla="val 9406"/>
            </a:avLst>
          </a:prstGeom>
          <a:solidFill>
            <a:schemeClr val="bg2">
              <a:lumMod val="9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2"/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313B9C78-FE0B-42C6-835B-7934FE4C6793}"/>
              </a:ext>
            </a:extLst>
          </p:cNvPr>
          <p:cNvSpPr/>
          <p:nvPr/>
        </p:nvSpPr>
        <p:spPr>
          <a:xfrm>
            <a:off x="1226476" y="2156914"/>
            <a:ext cx="1950469" cy="3126752"/>
          </a:xfrm>
          <a:prstGeom prst="roundRect">
            <a:avLst>
              <a:gd name="adj" fmla="val 9406"/>
            </a:avLst>
          </a:prstGeom>
          <a:solidFill>
            <a:schemeClr val="bg2">
              <a:lumMod val="9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2"/>
          </a:p>
        </p:txBody>
      </p:sp>
      <p:sp>
        <p:nvSpPr>
          <p:cNvPr id="227" name="사각형: 둥근 모서리 226">
            <a:extLst>
              <a:ext uri="{FF2B5EF4-FFF2-40B4-BE49-F238E27FC236}">
                <a16:creationId xmlns:a16="http://schemas.microsoft.com/office/drawing/2014/main" id="{C406FF98-A013-451C-B2A4-82F75F1DBAE1}"/>
              </a:ext>
            </a:extLst>
          </p:cNvPr>
          <p:cNvSpPr/>
          <p:nvPr/>
        </p:nvSpPr>
        <p:spPr>
          <a:xfrm>
            <a:off x="1226477" y="5432977"/>
            <a:ext cx="7734195" cy="2035045"/>
          </a:xfrm>
          <a:prstGeom prst="roundRect">
            <a:avLst>
              <a:gd name="adj" fmla="val 9406"/>
            </a:avLst>
          </a:prstGeom>
          <a:solidFill>
            <a:schemeClr val="bg2">
              <a:lumMod val="9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2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E5C615DA-32DB-4949-88AD-13B40C5DDD20}"/>
              </a:ext>
            </a:extLst>
          </p:cNvPr>
          <p:cNvSpPr/>
          <p:nvPr/>
        </p:nvSpPr>
        <p:spPr>
          <a:xfrm>
            <a:off x="1551727" y="2500570"/>
            <a:ext cx="1322566" cy="7487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2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005F23F-EC48-4442-AA33-1F8E8C38FB86}"/>
              </a:ext>
            </a:extLst>
          </p:cNvPr>
          <p:cNvSpPr/>
          <p:nvPr/>
        </p:nvSpPr>
        <p:spPr>
          <a:xfrm>
            <a:off x="4145690" y="1755784"/>
            <a:ext cx="2360297" cy="3229606"/>
          </a:xfrm>
          <a:prstGeom prst="rect">
            <a:avLst/>
          </a:prstGeom>
          <a:solidFill>
            <a:srgbClr val="FFF9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543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유럽 법규 인증 도구</a:t>
            </a:r>
            <a:endParaRPr lang="ko-KR" altLang="en-US" sz="1543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07512D-1A24-4EC4-9D37-887447A1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시스템 구성 </a:t>
            </a:r>
            <a:r>
              <a:rPr lang="en-US" altLang="ko-KR"/>
              <a:t>- </a:t>
            </a:r>
            <a:r>
              <a:rPr lang="ko-KR" altLang="en-US"/>
              <a:t>개요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78DE7F2-967F-48B0-AB67-0939CE5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2952" y="7159752"/>
            <a:ext cx="448056" cy="402336"/>
          </a:xfrm>
        </p:spPr>
        <p:txBody>
          <a:bodyPr/>
          <a:lstStyle/>
          <a:p>
            <a:fld id="{5BCDA562-D163-4743-A5E0-EF338EDE3E78}" type="slidenum">
              <a:rPr lang="en-US" altLang="ko-KR" smtClean="0"/>
              <a:pPr/>
              <a:t>3</a:t>
            </a:fld>
            <a:endParaRPr lang="en-US" altLang="ko-KR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BEB3555-8915-4F8C-A560-DD41435695C8}"/>
              </a:ext>
            </a:extLst>
          </p:cNvPr>
          <p:cNvSpPr/>
          <p:nvPr/>
        </p:nvSpPr>
        <p:spPr>
          <a:xfrm>
            <a:off x="4452275" y="2119580"/>
            <a:ext cx="1771798" cy="110511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altLang="ko-KR" sz="1323">
                <a:solidFill>
                  <a:sysClr val="windowText" lastClr="000000"/>
                </a:solidFill>
              </a:rPr>
            </a:br>
            <a:r>
              <a:rPr lang="ko-KR" altLang="en-US" sz="1323">
                <a:solidFill>
                  <a:sysClr val="windowText" lastClr="000000"/>
                </a:solidFill>
              </a:rPr>
              <a:t>법규 검증 모듈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E9437ABB-A5D1-40DE-B293-BDE13ABFEE24}"/>
              </a:ext>
            </a:extLst>
          </p:cNvPr>
          <p:cNvGrpSpPr/>
          <p:nvPr/>
        </p:nvGrpSpPr>
        <p:grpSpPr>
          <a:xfrm>
            <a:off x="2566566" y="5864510"/>
            <a:ext cx="474112" cy="456366"/>
            <a:chOff x="4855827" y="5122323"/>
            <a:chExt cx="755646" cy="800099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170EA276-693E-4FF5-B503-32A45C8C2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rcRect l="6057" r="1476" b="3221"/>
            <a:stretch/>
          </p:blipFill>
          <p:spPr>
            <a:xfrm>
              <a:off x="4878048" y="5324973"/>
              <a:ext cx="733425" cy="597449"/>
            </a:xfrm>
            <a:prstGeom prst="rect">
              <a:avLst/>
            </a:prstGeom>
          </p:spPr>
        </p:pic>
        <p:pic>
          <p:nvPicPr>
            <p:cNvPr id="69" name="그림 377">
              <a:extLst>
                <a:ext uri="{FF2B5EF4-FFF2-40B4-BE49-F238E27FC236}">
                  <a16:creationId xmlns:a16="http://schemas.microsoft.com/office/drawing/2014/main" id="{D1BDA70C-9950-4E49-B409-F4AD64C5D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5714" l="9174" r="99083">
                          <a14:foregroundMark x1="62844" y1="35714" x2="67431" y2="31429"/>
                          <a14:foregroundMark x1="67890" y1="31429" x2="83486" y2="38571"/>
                          <a14:backgroundMark x1="51835" y1="27143" x2="41284" y2="38571"/>
                          <a14:backgroundMark x1="48624" y1="41429" x2="65138" y2="28571"/>
                          <a14:backgroundMark x1="61468" y1="34286" x2="75688" y2="25000"/>
                          <a14:backgroundMark x1="68807" y1="25000" x2="86697" y2="32857"/>
                          <a14:backgroundMark x1="41284" y1="42143" x2="59633" y2="28571"/>
                          <a14:backgroundMark x1="49541" y1="42143" x2="64220" y2="32857"/>
                          <a14:backgroundMark x1="69266" y1="30000" x2="83945" y2="35714"/>
                          <a14:backgroundMark x1="74771" y1="22143" x2="83945" y2="22857"/>
                          <a14:backgroundMark x1="90367" y1="25714" x2="90367" y2="25714"/>
                        </a14:backgroundRemoval>
                      </a14:imgEffect>
                    </a14:imgLayer>
                  </a14:imgProps>
                </a:ext>
              </a:extLst>
            </a:blip>
            <a:srcRect l="25345" t="31272" r="2208" b="6541"/>
            <a:stretch/>
          </p:blipFill>
          <p:spPr>
            <a:xfrm>
              <a:off x="4855827" y="5122323"/>
              <a:ext cx="635001" cy="419100"/>
            </a:xfrm>
            <a:prstGeom prst="rect">
              <a:avLst/>
            </a:prstGeom>
          </p:spPr>
        </p:pic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C2BC818-5C5D-41E4-9F85-66130901D24C}"/>
              </a:ext>
            </a:extLst>
          </p:cNvPr>
          <p:cNvGrpSpPr/>
          <p:nvPr/>
        </p:nvGrpSpPr>
        <p:grpSpPr>
          <a:xfrm>
            <a:off x="5522899" y="6433100"/>
            <a:ext cx="595453" cy="595453"/>
            <a:chOff x="1898444" y="1630943"/>
            <a:chExt cx="828000" cy="828000"/>
          </a:xfrm>
        </p:grpSpPr>
        <p:sp>
          <p:nvSpPr>
            <p:cNvPr id="72" name="사각형: 둥근 모서리 143">
              <a:extLst>
                <a:ext uri="{FF2B5EF4-FFF2-40B4-BE49-F238E27FC236}">
                  <a16:creationId xmlns:a16="http://schemas.microsoft.com/office/drawing/2014/main" id="{E67FE06D-613F-43E1-9AAE-BE24165FB9BA}"/>
                </a:ext>
              </a:extLst>
            </p:cNvPr>
            <p:cNvSpPr/>
            <p:nvPr/>
          </p:nvSpPr>
          <p:spPr>
            <a:xfrm>
              <a:off x="1898444" y="1630943"/>
              <a:ext cx="828000" cy="828000"/>
            </a:xfrm>
            <a:prstGeom prst="ellipse">
              <a:avLst/>
            </a:prstGeom>
            <a:solidFill>
              <a:schemeClr val="bg1"/>
            </a:solidFill>
            <a:ln w="15875">
              <a:noFill/>
              <a:prstDash val="sysDot"/>
            </a:ln>
            <a:effectLst>
              <a:outerShdw blurRad="190500" algn="ctr" rotWithShape="0">
                <a:srgbClr val="406FD8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32" dirty="0"/>
            </a:p>
          </p:txBody>
        </p:sp>
        <p:pic>
          <p:nvPicPr>
            <p:cNvPr id="73" name="그림 169">
              <a:extLst>
                <a:ext uri="{FF2B5EF4-FFF2-40B4-BE49-F238E27FC236}">
                  <a16:creationId xmlns:a16="http://schemas.microsoft.com/office/drawing/2014/main" id="{1EEA542F-5052-481E-AE17-9B39CB14F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98" t="20227" r="26736" b="14033"/>
            <a:stretch/>
          </p:blipFill>
          <p:spPr>
            <a:xfrm>
              <a:off x="2169696" y="1828341"/>
              <a:ext cx="285497" cy="392108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23E538F-8C1B-4986-808E-E74B6CDA59A4}"/>
              </a:ext>
            </a:extLst>
          </p:cNvPr>
          <p:cNvSpPr txBox="1"/>
          <p:nvPr/>
        </p:nvSpPr>
        <p:spPr>
          <a:xfrm>
            <a:off x="5195083" y="7018136"/>
            <a:ext cx="1284181" cy="26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ko-KR" altLang="en-US" sz="1102" b="1">
                <a:latin typeface="+mj-ea"/>
                <a:ea typeface="+mj-ea"/>
              </a:rPr>
              <a:t>평가자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95D8BFB-BDB7-446F-85DE-B462067316A7}"/>
              </a:ext>
            </a:extLst>
          </p:cNvPr>
          <p:cNvSpPr txBox="1"/>
          <p:nvPr/>
        </p:nvSpPr>
        <p:spPr>
          <a:xfrm>
            <a:off x="1947445" y="6974293"/>
            <a:ext cx="985415" cy="2450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729"/>
              </a:spcAft>
            </a:pPr>
            <a:r>
              <a:rPr lang="ko-KR" altLang="en-US" sz="992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인증 대상 차량</a:t>
            </a:r>
          </a:p>
        </p:txBody>
      </p:sp>
      <p:pic>
        <p:nvPicPr>
          <p:cNvPr id="76" name="Picture 45">
            <a:extLst>
              <a:ext uri="{FF2B5EF4-FFF2-40B4-BE49-F238E27FC236}">
                <a16:creationId xmlns:a16="http://schemas.microsoft.com/office/drawing/2014/main" id="{F671A63D-AC99-4526-B325-663BF0DBAA01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27" b="21527"/>
          <a:stretch/>
        </p:blipFill>
        <p:spPr>
          <a:xfrm flipH="1">
            <a:off x="1873159" y="6453105"/>
            <a:ext cx="1256555" cy="561121"/>
          </a:xfrm>
          <a:prstGeom prst="rect">
            <a:avLst/>
          </a:prstGeom>
        </p:spPr>
      </p:pic>
      <p:grpSp>
        <p:nvGrpSpPr>
          <p:cNvPr id="79" name="그룹 109">
            <a:extLst>
              <a:ext uri="{FF2B5EF4-FFF2-40B4-BE49-F238E27FC236}">
                <a16:creationId xmlns:a16="http://schemas.microsoft.com/office/drawing/2014/main" id="{CDD766DF-C8D9-42E5-8F1C-89A5B721FD0E}"/>
              </a:ext>
            </a:extLst>
          </p:cNvPr>
          <p:cNvGrpSpPr/>
          <p:nvPr/>
        </p:nvGrpSpPr>
        <p:grpSpPr>
          <a:xfrm>
            <a:off x="7071271" y="5489163"/>
            <a:ext cx="590275" cy="481421"/>
            <a:chOff x="3873176" y="3181349"/>
            <a:chExt cx="315443" cy="282999"/>
          </a:xfrm>
        </p:grpSpPr>
        <p:pic>
          <p:nvPicPr>
            <p:cNvPr id="80" name="그림 94">
              <a:extLst>
                <a:ext uri="{FF2B5EF4-FFF2-40B4-BE49-F238E27FC236}">
                  <a16:creationId xmlns:a16="http://schemas.microsoft.com/office/drawing/2014/main" id="{034876CF-D106-48A0-A69B-0248ED78DA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alphaModFix amt="8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63" t="4995" r="10963" b="4995"/>
            <a:stretch/>
          </p:blipFill>
          <p:spPr>
            <a:xfrm>
              <a:off x="3927101" y="3181349"/>
              <a:ext cx="261518" cy="282999"/>
            </a:xfrm>
            <a:prstGeom prst="rect">
              <a:avLst/>
            </a:prstGeom>
          </p:spPr>
        </p:pic>
        <p:sp>
          <p:nvSpPr>
            <p:cNvPr id="81" name="순서도: 처리 96">
              <a:extLst>
                <a:ext uri="{FF2B5EF4-FFF2-40B4-BE49-F238E27FC236}">
                  <a16:creationId xmlns:a16="http://schemas.microsoft.com/office/drawing/2014/main" id="{B93F92F3-CE8F-4CC3-9EC3-C09B4B224F3C}"/>
                </a:ext>
              </a:extLst>
            </p:cNvPr>
            <p:cNvSpPr/>
            <p:nvPr/>
          </p:nvSpPr>
          <p:spPr bwMode="auto">
            <a:xfrm>
              <a:off x="3873176" y="3281364"/>
              <a:ext cx="247947" cy="129709"/>
            </a:xfrm>
            <a:prstGeom prst="flowChartProcess">
              <a:avLst/>
            </a:prstGeom>
            <a:solidFill>
              <a:srgbClr val="7030A0">
                <a:alpha val="72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00796" tIns="50398" rIns="100796" bIns="50398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007943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992" dirty="0">
                  <a:solidFill>
                    <a:schemeClr val="bg1"/>
                  </a:solidFill>
                  <a:latin typeface="나눔스퀘어 네오 OTF Bold" panose="00000800000000000000" pitchFamily="50" charset="-127"/>
                  <a:ea typeface="나눔스퀘어 네오 OTF Bold" panose="00000800000000000000" pitchFamily="50" charset="-127"/>
                  <a:sym typeface="나눔스퀘어" pitchFamily="64" charset="0"/>
                </a:rPr>
                <a:t>MDF</a:t>
              </a:r>
            </a:p>
          </p:txBody>
        </p:sp>
      </p:grpSp>
      <p:cxnSp>
        <p:nvCxnSpPr>
          <p:cNvPr id="82" name="Straight Arrow Connector 113">
            <a:extLst>
              <a:ext uri="{FF2B5EF4-FFF2-40B4-BE49-F238E27FC236}">
                <a16:creationId xmlns:a16="http://schemas.microsoft.com/office/drawing/2014/main" id="{08D47483-F777-45E2-9110-58754F5A749F}"/>
              </a:ext>
            </a:extLst>
          </p:cNvPr>
          <p:cNvCxnSpPr>
            <a:cxnSpLocks/>
            <a:stCxn id="85" idx="1"/>
            <a:endCxn id="81" idx="1"/>
          </p:cNvCxnSpPr>
          <p:nvPr/>
        </p:nvCxnSpPr>
        <p:spPr>
          <a:xfrm flipV="1">
            <a:off x="4519819" y="5769629"/>
            <a:ext cx="2551452" cy="1150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D0E5430-8CFA-4B84-B78D-DF96B4B45E6D}"/>
              </a:ext>
            </a:extLst>
          </p:cNvPr>
          <p:cNvSpPr txBox="1"/>
          <p:nvPr/>
        </p:nvSpPr>
        <p:spPr>
          <a:xfrm>
            <a:off x="6646942" y="5763318"/>
            <a:ext cx="445198" cy="26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9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저장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9543B9B3-E3C9-4536-A49B-E4FC6C6B1803}"/>
              </a:ext>
            </a:extLst>
          </p:cNvPr>
          <p:cNvSpPr/>
          <p:nvPr/>
        </p:nvSpPr>
        <p:spPr>
          <a:xfrm>
            <a:off x="4519818" y="5548042"/>
            <a:ext cx="1636763" cy="445473"/>
          </a:xfrm>
          <a:prstGeom prst="roundRect">
            <a:avLst>
              <a:gd name="adj" fmla="val 50000"/>
            </a:avLst>
          </a:prstGeom>
          <a:solidFill>
            <a:srgbClr val="406F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83" rIns="39683" rtlCol="0" anchor="ctr"/>
          <a:lstStyle/>
          <a:p>
            <a:pPr algn="ctr"/>
            <a:r>
              <a:rPr lang="ko-KR" altLang="en-US" sz="1157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실시간 네트워크 신호 </a:t>
            </a:r>
            <a:r>
              <a:rPr lang="en-US" altLang="ko-KR" sz="992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(CAN FD)</a:t>
            </a:r>
            <a:endParaRPr lang="en-US" altLang="ko-KR" sz="1157"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E4852EE4-859A-44D2-803A-45F79E334C6A}"/>
              </a:ext>
            </a:extLst>
          </p:cNvPr>
          <p:cNvCxnSpPr>
            <a:cxnSpLocks/>
            <a:stCxn id="85" idx="0"/>
            <a:endCxn id="60" idx="2"/>
          </p:cNvCxnSpPr>
          <p:nvPr/>
        </p:nvCxnSpPr>
        <p:spPr>
          <a:xfrm flipH="1" flipV="1">
            <a:off x="5338175" y="4708179"/>
            <a:ext cx="25" cy="8398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37ACB3A1-8550-4943-8C32-C32A485B2B01}"/>
              </a:ext>
            </a:extLst>
          </p:cNvPr>
          <p:cNvCxnSpPr>
            <a:cxnSpLocks/>
            <a:stCxn id="76" idx="0"/>
            <a:endCxn id="85" idx="1"/>
          </p:cNvCxnSpPr>
          <p:nvPr/>
        </p:nvCxnSpPr>
        <p:spPr>
          <a:xfrm rot="5400000" flipH="1" flipV="1">
            <a:off x="3169464" y="5102752"/>
            <a:ext cx="682326" cy="201838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6C34E64-41E7-4736-84C0-FCF187C05A05}"/>
              </a:ext>
            </a:extLst>
          </p:cNvPr>
          <p:cNvSpPr txBox="1"/>
          <p:nvPr/>
        </p:nvSpPr>
        <p:spPr>
          <a:xfrm>
            <a:off x="6656677" y="6753571"/>
            <a:ext cx="2425612" cy="2789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29"/>
              </a:spcAft>
            </a:pPr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③ 사후 분석</a:t>
            </a:r>
            <a:r>
              <a:rPr lang="en-US" altLang="ko-KR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/</a:t>
            </a:r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검증결과 확인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7288ED7-33F5-4FCE-8FE4-A4D313459D6F}"/>
              </a:ext>
            </a:extLst>
          </p:cNvPr>
          <p:cNvSpPr txBox="1"/>
          <p:nvPr/>
        </p:nvSpPr>
        <p:spPr>
          <a:xfrm>
            <a:off x="7353683" y="5967010"/>
            <a:ext cx="1589938" cy="22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ko-KR" altLang="en-US" sz="88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신호측정데이터 로그 </a:t>
            </a:r>
            <a:r>
              <a:rPr lang="en-US" altLang="ko-KR" sz="88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.mf4</a:t>
            </a:r>
            <a:endParaRPr lang="ko-KR" altLang="en-US" sz="88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cxnSp>
        <p:nvCxnSpPr>
          <p:cNvPr id="121" name="Straight Arrow Connector 113">
            <a:extLst>
              <a:ext uri="{FF2B5EF4-FFF2-40B4-BE49-F238E27FC236}">
                <a16:creationId xmlns:a16="http://schemas.microsoft.com/office/drawing/2014/main" id="{F3A561AB-8E65-4BC6-A2E7-A3A0CC725829}"/>
              </a:ext>
            </a:extLst>
          </p:cNvPr>
          <p:cNvCxnSpPr>
            <a:cxnSpLocks/>
            <a:stCxn id="80" idx="0"/>
            <a:endCxn id="232" idx="2"/>
          </p:cNvCxnSpPr>
          <p:nvPr/>
        </p:nvCxnSpPr>
        <p:spPr>
          <a:xfrm rot="16200000" flipV="1">
            <a:off x="6315045" y="4387344"/>
            <a:ext cx="791620" cy="1412017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79EAFED-D236-47B3-9B5A-BE967901027E}"/>
              </a:ext>
            </a:extLst>
          </p:cNvPr>
          <p:cNvSpPr txBox="1"/>
          <p:nvPr/>
        </p:nvSpPr>
        <p:spPr>
          <a:xfrm>
            <a:off x="4952438" y="5078381"/>
            <a:ext cx="1284181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Online</a:t>
            </a:r>
            <a:endParaRPr lang="ko-KR" altLang="en-US" sz="99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D6FF144-DF72-4178-9D5C-8794488E4BF7}"/>
              </a:ext>
            </a:extLst>
          </p:cNvPr>
          <p:cNvSpPr txBox="1"/>
          <p:nvPr/>
        </p:nvSpPr>
        <p:spPr>
          <a:xfrm>
            <a:off x="6630632" y="5085189"/>
            <a:ext cx="966795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Offline</a:t>
            </a:r>
            <a:endParaRPr lang="ko-KR" altLang="en-US" sz="99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25CD0EE-2F4C-452A-B0B4-A2394CB19F0D}"/>
              </a:ext>
            </a:extLst>
          </p:cNvPr>
          <p:cNvSpPr txBox="1"/>
          <p:nvPr/>
        </p:nvSpPr>
        <p:spPr>
          <a:xfrm>
            <a:off x="7770421" y="1334022"/>
            <a:ext cx="1636763" cy="26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1102" b="1">
                <a:latin typeface="+mj-ea"/>
                <a:ea typeface="+mj-ea"/>
              </a:rPr>
              <a:t>Audio Microphone</a:t>
            </a:r>
            <a:endParaRPr lang="ko-KR" altLang="en-US" sz="1102" b="1">
              <a:latin typeface="+mj-ea"/>
              <a:ea typeface="+mj-ea"/>
            </a:endParaRPr>
          </a:p>
        </p:txBody>
      </p:sp>
      <p:pic>
        <p:nvPicPr>
          <p:cNvPr id="139" name="그림 138">
            <a:extLst>
              <a:ext uri="{FF2B5EF4-FFF2-40B4-BE49-F238E27FC236}">
                <a16:creationId xmlns:a16="http://schemas.microsoft.com/office/drawing/2014/main" id="{82AE155F-90AA-4B97-9B82-CBE20A68EA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13" y="2577416"/>
            <a:ext cx="519877" cy="570044"/>
          </a:xfrm>
          <a:prstGeom prst="rect">
            <a:avLst/>
          </a:prstGeom>
        </p:spPr>
      </p:pic>
      <p:pic>
        <p:nvPicPr>
          <p:cNvPr id="140" name="그림 139">
            <a:extLst>
              <a:ext uri="{FF2B5EF4-FFF2-40B4-BE49-F238E27FC236}">
                <a16:creationId xmlns:a16="http://schemas.microsoft.com/office/drawing/2014/main" id="{C229CCA1-0AC9-430F-B004-6B45616B1F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747" y="2577416"/>
            <a:ext cx="519877" cy="570044"/>
          </a:xfrm>
          <a:prstGeom prst="rect">
            <a:avLst/>
          </a:prstGeom>
        </p:spPr>
      </p:pic>
      <p:cxnSp>
        <p:nvCxnSpPr>
          <p:cNvPr id="143" name="Straight Arrow Connector 113">
            <a:extLst>
              <a:ext uri="{FF2B5EF4-FFF2-40B4-BE49-F238E27FC236}">
                <a16:creationId xmlns:a16="http://schemas.microsoft.com/office/drawing/2014/main" id="{1F7FBF3B-0293-42BD-AF69-77264A4E64F9}"/>
              </a:ext>
            </a:extLst>
          </p:cNvPr>
          <p:cNvCxnSpPr>
            <a:cxnSpLocks/>
            <a:stCxn id="196" idx="3"/>
            <a:endCxn id="60" idx="1"/>
          </p:cNvCxnSpPr>
          <p:nvPr/>
        </p:nvCxnSpPr>
        <p:spPr>
          <a:xfrm flipV="1">
            <a:off x="2977497" y="3983379"/>
            <a:ext cx="1474778" cy="1907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32CFD653-0D75-4195-9E47-4F035CA3D76C}"/>
              </a:ext>
            </a:extLst>
          </p:cNvPr>
          <p:cNvSpPr txBox="1"/>
          <p:nvPr/>
        </p:nvSpPr>
        <p:spPr>
          <a:xfrm>
            <a:off x="1339934" y="2193701"/>
            <a:ext cx="1723554" cy="26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1102" b="1">
                <a:latin typeface="+mj-ea"/>
                <a:ea typeface="+mj-ea"/>
              </a:rPr>
              <a:t>Video Webcam</a:t>
            </a:r>
            <a:r>
              <a:rPr lang="ko-KR" altLang="en-US" sz="1102" b="1">
                <a:latin typeface="+mj-ea"/>
                <a:ea typeface="+mj-ea"/>
              </a:rPr>
              <a:t> </a:t>
            </a:r>
            <a:r>
              <a:rPr lang="en-US" altLang="ko-KR" sz="1102" b="1">
                <a:latin typeface="+mj-ea"/>
                <a:ea typeface="+mj-ea"/>
              </a:rPr>
              <a:t>(2ch)</a:t>
            </a:r>
            <a:endParaRPr lang="ko-KR" altLang="en-US" sz="1102" b="1">
              <a:latin typeface="+mj-ea"/>
              <a:ea typeface="+mj-ea"/>
            </a:endParaRP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4286D6CF-1B33-4820-8672-42179833A377}"/>
              </a:ext>
            </a:extLst>
          </p:cNvPr>
          <p:cNvSpPr/>
          <p:nvPr/>
        </p:nvSpPr>
        <p:spPr>
          <a:xfrm>
            <a:off x="7771025" y="2427174"/>
            <a:ext cx="1636763" cy="490021"/>
          </a:xfrm>
          <a:prstGeom prst="roundRect">
            <a:avLst>
              <a:gd name="adj" fmla="val 50000"/>
            </a:avLst>
          </a:prstGeom>
          <a:solidFill>
            <a:srgbClr val="EE75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83" rIns="39683" rtlCol="0" anchor="ctr"/>
          <a:lstStyle/>
          <a:p>
            <a:pPr algn="ctr"/>
            <a:r>
              <a:rPr lang="ko-KR" altLang="en-US" sz="1157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음향 데이터</a:t>
            </a:r>
            <a:endParaRPr lang="en-US" altLang="ko-KR" sz="1157"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cxnSp>
        <p:nvCxnSpPr>
          <p:cNvPr id="180" name="Straight Arrow Connector 113">
            <a:extLst>
              <a:ext uri="{FF2B5EF4-FFF2-40B4-BE49-F238E27FC236}">
                <a16:creationId xmlns:a16="http://schemas.microsoft.com/office/drawing/2014/main" id="{E3B5E948-DFEC-405D-B71D-F5955D974FF2}"/>
              </a:ext>
            </a:extLst>
          </p:cNvPr>
          <p:cNvCxnSpPr>
            <a:cxnSpLocks/>
            <a:stCxn id="176" idx="1"/>
            <a:endCxn id="66" idx="3"/>
          </p:cNvCxnSpPr>
          <p:nvPr/>
        </p:nvCxnSpPr>
        <p:spPr>
          <a:xfrm flipH="1" flipV="1">
            <a:off x="6224073" y="2672136"/>
            <a:ext cx="1546952" cy="4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BBB40FA5-7506-4C9B-88C8-B269A732FF80}"/>
              </a:ext>
            </a:extLst>
          </p:cNvPr>
          <p:cNvSpPr/>
          <p:nvPr/>
        </p:nvSpPr>
        <p:spPr>
          <a:xfrm>
            <a:off x="1442508" y="3740276"/>
            <a:ext cx="1534989" cy="490021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83" rIns="39683" rtlCol="0" anchor="ctr"/>
          <a:lstStyle/>
          <a:p>
            <a:pPr algn="ctr"/>
            <a:r>
              <a:rPr lang="ko-KR" altLang="en-US" sz="1157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영상 데이터</a:t>
            </a:r>
            <a:endParaRPr lang="en-US" altLang="ko-KR" sz="1157"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cxnSp>
        <p:nvCxnSpPr>
          <p:cNvPr id="205" name="Straight Arrow Connector 113">
            <a:extLst>
              <a:ext uri="{FF2B5EF4-FFF2-40B4-BE49-F238E27FC236}">
                <a16:creationId xmlns:a16="http://schemas.microsoft.com/office/drawing/2014/main" id="{12ED75B9-7FF7-4D41-8851-820010B8B0DB}"/>
              </a:ext>
            </a:extLst>
          </p:cNvPr>
          <p:cNvCxnSpPr>
            <a:cxnSpLocks/>
            <a:stCxn id="142" idx="2"/>
            <a:endCxn id="196" idx="0"/>
          </p:cNvCxnSpPr>
          <p:nvPr/>
        </p:nvCxnSpPr>
        <p:spPr>
          <a:xfrm flipH="1">
            <a:off x="2210003" y="3249287"/>
            <a:ext cx="3008" cy="49099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9" name="그림 208">
            <a:extLst>
              <a:ext uri="{FF2B5EF4-FFF2-40B4-BE49-F238E27FC236}">
                <a16:creationId xmlns:a16="http://schemas.microsoft.com/office/drawing/2014/main" id="{C22FA702-042C-4CB5-8494-489B9EF1C6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045" y="4562858"/>
            <a:ext cx="586640" cy="586640"/>
          </a:xfrm>
          <a:prstGeom prst="rect">
            <a:avLst/>
          </a:prstGeom>
        </p:spPr>
      </p:pic>
      <p:cxnSp>
        <p:nvCxnSpPr>
          <p:cNvPr id="210" name="Straight Arrow Connector 113">
            <a:extLst>
              <a:ext uri="{FF2B5EF4-FFF2-40B4-BE49-F238E27FC236}">
                <a16:creationId xmlns:a16="http://schemas.microsoft.com/office/drawing/2014/main" id="{832D4A24-5EB2-469B-A808-79631762EE1C}"/>
              </a:ext>
            </a:extLst>
          </p:cNvPr>
          <p:cNvCxnSpPr>
            <a:cxnSpLocks/>
            <a:stCxn id="196" idx="2"/>
            <a:endCxn id="209" idx="0"/>
          </p:cNvCxnSpPr>
          <p:nvPr/>
        </p:nvCxnSpPr>
        <p:spPr>
          <a:xfrm flipH="1">
            <a:off x="2207365" y="4230297"/>
            <a:ext cx="2637" cy="33256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113">
            <a:extLst>
              <a:ext uri="{FF2B5EF4-FFF2-40B4-BE49-F238E27FC236}">
                <a16:creationId xmlns:a16="http://schemas.microsoft.com/office/drawing/2014/main" id="{257FAF49-B65C-445C-86CF-C79C6ADE78F7}"/>
              </a:ext>
            </a:extLst>
          </p:cNvPr>
          <p:cNvCxnSpPr>
            <a:cxnSpLocks/>
            <a:stCxn id="209" idx="3"/>
          </p:cNvCxnSpPr>
          <p:nvPr/>
        </p:nvCxnSpPr>
        <p:spPr>
          <a:xfrm flipV="1">
            <a:off x="2500685" y="4183757"/>
            <a:ext cx="1941367" cy="67242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4FE5D8E8-B3F3-4F84-89BD-6F53A2934FE5}"/>
              </a:ext>
            </a:extLst>
          </p:cNvPr>
          <p:cNvSpPr txBox="1"/>
          <p:nvPr/>
        </p:nvSpPr>
        <p:spPr>
          <a:xfrm>
            <a:off x="2510017" y="4841036"/>
            <a:ext cx="1220000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Offline visualize</a:t>
            </a:r>
            <a:endParaRPr lang="ko-KR" altLang="en-US" sz="99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9E71632-EC17-40D7-B609-F577378EBEF4}"/>
              </a:ext>
            </a:extLst>
          </p:cNvPr>
          <p:cNvSpPr txBox="1"/>
          <p:nvPr/>
        </p:nvSpPr>
        <p:spPr>
          <a:xfrm>
            <a:off x="2843746" y="3719309"/>
            <a:ext cx="1284181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Online visualize</a:t>
            </a:r>
            <a:endParaRPr lang="ko-KR" altLang="en-US" sz="99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23" name="TextBox 97">
            <a:extLst>
              <a:ext uri="{FF2B5EF4-FFF2-40B4-BE49-F238E27FC236}">
                <a16:creationId xmlns:a16="http://schemas.microsoft.com/office/drawing/2014/main" id="{D91160F4-0A72-46E7-9246-6259ECBDD110}"/>
              </a:ext>
            </a:extLst>
          </p:cNvPr>
          <p:cNvSpPr txBox="1"/>
          <p:nvPr/>
        </p:nvSpPr>
        <p:spPr>
          <a:xfrm>
            <a:off x="644628" y="649762"/>
            <a:ext cx="6735005" cy="56002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684" indent="-169684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차량 신호</a:t>
            </a:r>
            <a:r>
              <a:rPr lang="en-US" altLang="ko-KR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</a:t>
            </a: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변속기어</a:t>
            </a:r>
            <a:r>
              <a:rPr lang="en-US" altLang="ko-KR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</a:t>
            </a: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경보신호</a:t>
            </a:r>
            <a:r>
              <a:rPr lang="en-US" altLang="ko-KR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등</a:t>
            </a:r>
            <a:r>
              <a:rPr lang="en-US" altLang="ko-KR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) </a:t>
            </a: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와 클러스터 영상</a:t>
            </a:r>
            <a:r>
              <a:rPr lang="en-US" altLang="ko-KR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</a:t>
            </a: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경보 음향 기반 실시간 검증</a:t>
            </a:r>
            <a:endParaRPr lang="en-US" altLang="ko-KR" sz="1213" b="1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69684" indent="-169684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계측된 모든 입력 데이터 저장 후 동기화하여 오프라인에서 개별</a:t>
            </a:r>
            <a:r>
              <a:rPr lang="en-US" altLang="ko-KR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/</a:t>
            </a: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통합 결과 확인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A2CCFD6-C253-4DF1-B589-3EA6A11FB3DA}"/>
              </a:ext>
            </a:extLst>
          </p:cNvPr>
          <p:cNvSpPr txBox="1"/>
          <p:nvPr/>
        </p:nvSpPr>
        <p:spPr>
          <a:xfrm>
            <a:off x="2987953" y="5799050"/>
            <a:ext cx="1390797" cy="550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CAN</a:t>
            </a:r>
            <a:r>
              <a:rPr lang="ko-KR" altLang="en-US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차량신호 </a:t>
            </a:r>
            <a:b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</a:br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</a:t>
            </a:r>
            <a:r>
              <a:rPr lang="ko-KR" altLang="en-US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변속기어</a:t>
            </a:r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</a:t>
            </a:r>
            <a:r>
              <a:rPr lang="ko-KR" altLang="en-US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후방경보</a:t>
            </a:r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</a:t>
            </a:r>
            <a:r>
              <a:rPr lang="ko-KR" altLang="en-US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긴급제동</a:t>
            </a:r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)</a:t>
            </a:r>
            <a:endParaRPr lang="ko-KR" altLang="en-US" sz="99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F9CBCCD9-16AF-4D97-95C0-9125851921A8}"/>
              </a:ext>
            </a:extLst>
          </p:cNvPr>
          <p:cNvSpPr txBox="1"/>
          <p:nvPr/>
        </p:nvSpPr>
        <p:spPr>
          <a:xfrm>
            <a:off x="4569024" y="2935731"/>
            <a:ext cx="1539765" cy="2328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lIns="39683" tIns="39683" rIns="39683" bIns="39683">
            <a:spAutoFit/>
          </a:bodyPr>
          <a:lstStyle/>
          <a:p>
            <a:pPr algn="ctr" defTabSz="1007943" latinLnBrk="1"/>
            <a:r>
              <a:rPr lang="ko-KR" altLang="en-US" sz="992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실시간 모니터링</a:t>
            </a:r>
            <a:r>
              <a:rPr lang="en-US" altLang="ko-KR" sz="992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/</a:t>
            </a:r>
            <a:r>
              <a:rPr lang="ko-KR" altLang="en-US" sz="992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검증 판정</a:t>
            </a:r>
          </a:p>
        </p:txBody>
      </p:sp>
      <p:pic>
        <p:nvPicPr>
          <p:cNvPr id="237" name="그림 236">
            <a:extLst>
              <a:ext uri="{FF2B5EF4-FFF2-40B4-BE49-F238E27FC236}">
                <a16:creationId xmlns:a16="http://schemas.microsoft.com/office/drawing/2014/main" id="{50579D09-2807-433F-8B64-5C62CE0BFD4E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136" y="3991439"/>
            <a:ext cx="521131" cy="521131"/>
          </a:xfrm>
          <a:prstGeom prst="rect">
            <a:avLst/>
          </a:prstGeom>
          <a:ln>
            <a:noFill/>
          </a:ln>
        </p:spPr>
      </p:pic>
      <p:cxnSp>
        <p:nvCxnSpPr>
          <p:cNvPr id="239" name="Straight Arrow Connector 113">
            <a:extLst>
              <a:ext uri="{FF2B5EF4-FFF2-40B4-BE49-F238E27FC236}">
                <a16:creationId xmlns:a16="http://schemas.microsoft.com/office/drawing/2014/main" id="{FBF5B5A2-78D7-4AED-85DF-6FA5ACF1211B}"/>
              </a:ext>
            </a:extLst>
          </p:cNvPr>
          <p:cNvCxnSpPr>
            <a:cxnSpLocks/>
          </p:cNvCxnSpPr>
          <p:nvPr/>
        </p:nvCxnSpPr>
        <p:spPr>
          <a:xfrm>
            <a:off x="6513103" y="4296735"/>
            <a:ext cx="866530" cy="1816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12D31507-60A1-4386-94B4-8A043DC06243}"/>
              </a:ext>
            </a:extLst>
          </p:cNvPr>
          <p:cNvSpPr txBox="1"/>
          <p:nvPr/>
        </p:nvSpPr>
        <p:spPr>
          <a:xfrm>
            <a:off x="6593386" y="4467191"/>
            <a:ext cx="2016630" cy="26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1102" b="1">
                <a:latin typeface="+mj-ea"/>
                <a:ea typeface="+mj-ea"/>
              </a:rPr>
              <a:t>EU Conformation Report</a:t>
            </a:r>
            <a:endParaRPr lang="ko-KR" altLang="en-US" sz="1102" b="1">
              <a:latin typeface="+mj-ea"/>
              <a:ea typeface="+mj-ea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CC7E3DC8-72BA-4067-A9C0-F603F57A2682}"/>
              </a:ext>
            </a:extLst>
          </p:cNvPr>
          <p:cNvSpPr txBox="1"/>
          <p:nvPr/>
        </p:nvSpPr>
        <p:spPr>
          <a:xfrm>
            <a:off x="7770422" y="4104355"/>
            <a:ext cx="1708395" cy="303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② 보고서 자동 생성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E77BED4-C1BE-4E43-B9E2-D283A040E564}"/>
              </a:ext>
            </a:extLst>
          </p:cNvPr>
          <p:cNvSpPr txBox="1"/>
          <p:nvPr/>
        </p:nvSpPr>
        <p:spPr>
          <a:xfrm>
            <a:off x="2214212" y="3328712"/>
            <a:ext cx="1474567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07943" latinLnBrk="1"/>
            <a:r>
              <a:rPr lang="ko-KR" altLang="en-US" sz="992" b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클러스터 </a:t>
            </a:r>
            <a:r>
              <a:rPr lang="en-US" altLang="ko-KR" sz="992" b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</a:t>
            </a:r>
            <a:r>
              <a:rPr lang="ko-KR" altLang="en-US" sz="992" b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차량 외부</a:t>
            </a:r>
          </a:p>
        </p:txBody>
      </p: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501FE7B6-5CB6-41A8-80DF-15E69EA1377B}"/>
              </a:ext>
            </a:extLst>
          </p:cNvPr>
          <p:cNvGrpSpPr/>
          <p:nvPr/>
        </p:nvGrpSpPr>
        <p:grpSpPr>
          <a:xfrm>
            <a:off x="4418436" y="6433100"/>
            <a:ext cx="595453" cy="595453"/>
            <a:chOff x="1898444" y="1630943"/>
            <a:chExt cx="828000" cy="828000"/>
          </a:xfrm>
        </p:grpSpPr>
        <p:sp>
          <p:nvSpPr>
            <p:cNvPr id="255" name="사각형: 둥근 모서리 143">
              <a:extLst>
                <a:ext uri="{FF2B5EF4-FFF2-40B4-BE49-F238E27FC236}">
                  <a16:creationId xmlns:a16="http://schemas.microsoft.com/office/drawing/2014/main" id="{C64B81A3-93AA-4B31-BB22-3E22D622D3FE}"/>
                </a:ext>
              </a:extLst>
            </p:cNvPr>
            <p:cNvSpPr/>
            <p:nvPr/>
          </p:nvSpPr>
          <p:spPr>
            <a:xfrm>
              <a:off x="1898444" y="1630943"/>
              <a:ext cx="828000" cy="828000"/>
            </a:xfrm>
            <a:prstGeom prst="ellipse">
              <a:avLst/>
            </a:prstGeom>
            <a:solidFill>
              <a:schemeClr val="bg1"/>
            </a:solidFill>
            <a:ln w="15875">
              <a:noFill/>
              <a:prstDash val="sysDot"/>
            </a:ln>
            <a:effectLst>
              <a:outerShdw blurRad="190500" algn="ctr" rotWithShape="0">
                <a:srgbClr val="406FD8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32" dirty="0"/>
            </a:p>
          </p:txBody>
        </p:sp>
        <p:pic>
          <p:nvPicPr>
            <p:cNvPr id="256" name="그림 169">
              <a:extLst>
                <a:ext uri="{FF2B5EF4-FFF2-40B4-BE49-F238E27FC236}">
                  <a16:creationId xmlns:a16="http://schemas.microsoft.com/office/drawing/2014/main" id="{2F6EF3CD-2619-4919-810D-6A35E8D52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98" t="20227" r="26736" b="14033"/>
            <a:stretch/>
          </p:blipFill>
          <p:spPr>
            <a:xfrm>
              <a:off x="2169696" y="1828341"/>
              <a:ext cx="285497" cy="392108"/>
            </a:xfrm>
            <a:prstGeom prst="rect">
              <a:avLst/>
            </a:prstGeom>
          </p:spPr>
        </p:pic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7B90548D-7A52-4E96-B9E6-4FF29090E507}"/>
              </a:ext>
            </a:extLst>
          </p:cNvPr>
          <p:cNvSpPr txBox="1"/>
          <p:nvPr/>
        </p:nvSpPr>
        <p:spPr>
          <a:xfrm>
            <a:off x="4090620" y="7034195"/>
            <a:ext cx="1284181" cy="26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ko-KR" altLang="en-US" sz="1102" b="1">
                <a:latin typeface="+mj-ea"/>
                <a:ea typeface="+mj-ea"/>
              </a:rPr>
              <a:t>운전자</a:t>
            </a:r>
          </a:p>
        </p:txBody>
      </p:sp>
      <p:sp>
        <p:nvSpPr>
          <p:cNvPr id="260" name="사각형: 둥근 모서리 259">
            <a:extLst>
              <a:ext uri="{FF2B5EF4-FFF2-40B4-BE49-F238E27FC236}">
                <a16:creationId xmlns:a16="http://schemas.microsoft.com/office/drawing/2014/main" id="{0D399A05-3362-441E-80C2-83F26AAD2D67}"/>
              </a:ext>
            </a:extLst>
          </p:cNvPr>
          <p:cNvSpPr/>
          <p:nvPr/>
        </p:nvSpPr>
        <p:spPr>
          <a:xfrm>
            <a:off x="4175269" y="6150091"/>
            <a:ext cx="2359790" cy="1222596"/>
          </a:xfrm>
          <a:prstGeom prst="roundRect">
            <a:avLst>
              <a:gd name="adj" fmla="val 6505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2"/>
          </a:p>
        </p:txBody>
      </p:sp>
      <p:cxnSp>
        <p:nvCxnSpPr>
          <p:cNvPr id="77" name="Straight Arrow Connector 5">
            <a:extLst>
              <a:ext uri="{FF2B5EF4-FFF2-40B4-BE49-F238E27FC236}">
                <a16:creationId xmlns:a16="http://schemas.microsoft.com/office/drawing/2014/main" id="{384A0596-9354-4D52-871E-76FAA71CCED6}"/>
              </a:ext>
            </a:extLst>
          </p:cNvPr>
          <p:cNvCxnSpPr>
            <a:cxnSpLocks/>
            <a:stCxn id="255" idx="2"/>
            <a:endCxn id="76" idx="1"/>
          </p:cNvCxnSpPr>
          <p:nvPr/>
        </p:nvCxnSpPr>
        <p:spPr>
          <a:xfrm flipH="1">
            <a:off x="3129715" y="6730826"/>
            <a:ext cx="1288722" cy="28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98C0108-E4E2-464F-B89B-D5D7FDEFCD4B}"/>
              </a:ext>
            </a:extLst>
          </p:cNvPr>
          <p:cNvSpPr txBox="1"/>
          <p:nvPr/>
        </p:nvSpPr>
        <p:spPr>
          <a:xfrm>
            <a:off x="3261203" y="6774716"/>
            <a:ext cx="979418" cy="2703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729"/>
              </a:spcAft>
            </a:pPr>
            <a:r>
              <a:rPr lang="en-US" altLang="ko-KR" sz="1157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Operation</a:t>
            </a:r>
          </a:p>
        </p:txBody>
      </p:sp>
      <p:cxnSp>
        <p:nvCxnSpPr>
          <p:cNvPr id="105" name="Straight Arrow Connector 5">
            <a:extLst>
              <a:ext uri="{FF2B5EF4-FFF2-40B4-BE49-F238E27FC236}">
                <a16:creationId xmlns:a16="http://schemas.microsoft.com/office/drawing/2014/main" id="{B9B6ED4E-C704-4C67-B348-1F9632D85389}"/>
              </a:ext>
            </a:extLst>
          </p:cNvPr>
          <p:cNvCxnSpPr>
            <a:cxnSpLocks/>
            <a:stCxn id="72" idx="6"/>
            <a:endCxn id="80" idx="2"/>
          </p:cNvCxnSpPr>
          <p:nvPr/>
        </p:nvCxnSpPr>
        <p:spPr>
          <a:xfrm flipV="1">
            <a:off x="6118353" y="5970584"/>
            <a:ext cx="1298510" cy="760242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F725F4FB-1EED-4248-85DC-1789718E2CAC}"/>
              </a:ext>
            </a:extLst>
          </p:cNvPr>
          <p:cNvSpPr txBox="1"/>
          <p:nvPr/>
        </p:nvSpPr>
        <p:spPr>
          <a:xfrm>
            <a:off x="1746736" y="4270418"/>
            <a:ext cx="445198" cy="26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9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저장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43BC9D-810E-4914-B6A0-54BE64A3711D}"/>
              </a:ext>
            </a:extLst>
          </p:cNvPr>
          <p:cNvSpPr txBox="1"/>
          <p:nvPr/>
        </p:nvSpPr>
        <p:spPr>
          <a:xfrm>
            <a:off x="2550744" y="6986531"/>
            <a:ext cx="1980223" cy="22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9"/>
              </a:spcAft>
            </a:pPr>
            <a:r>
              <a:rPr lang="en-US" altLang="ko-KR" sz="88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(R</a:t>
            </a:r>
            <a:r>
              <a:rPr lang="ko-KR" altLang="en-US" sz="88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단 변속 조작</a:t>
            </a:r>
            <a:r>
              <a:rPr lang="en-US" altLang="ko-KR" sz="88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88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주행 등</a:t>
            </a:r>
            <a:r>
              <a:rPr lang="en-US" altLang="ko-KR" sz="88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</a:t>
            </a:r>
            <a:endParaRPr lang="en-US" altLang="ko-KR" sz="1157">
              <a:solidFill>
                <a:schemeClr val="tx1">
                  <a:lumMod val="65000"/>
                  <a:lumOff val="35000"/>
                </a:schemeClr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EBDA38-05DC-454F-BCC1-1E3FA133E903}"/>
              </a:ext>
            </a:extLst>
          </p:cNvPr>
          <p:cNvCxnSpPr>
            <a:stCxn id="72" idx="2"/>
            <a:endCxn id="255" idx="6"/>
          </p:cNvCxnSpPr>
          <p:nvPr/>
        </p:nvCxnSpPr>
        <p:spPr>
          <a:xfrm flipH="1">
            <a:off x="5013890" y="6730826"/>
            <a:ext cx="509010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5A0EADC6-3AAD-436A-8B48-5FF168D2C5AE}"/>
              </a:ext>
            </a:extLst>
          </p:cNvPr>
          <p:cNvSpPr txBox="1"/>
          <p:nvPr/>
        </p:nvSpPr>
        <p:spPr>
          <a:xfrm>
            <a:off x="4973897" y="7186564"/>
            <a:ext cx="1617075" cy="19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9"/>
              </a:spcAft>
            </a:pPr>
            <a:r>
              <a:rPr lang="en-US" altLang="ko-KR" sz="661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</a:t>
            </a:r>
            <a:r>
              <a:rPr lang="ko-KR" altLang="en-US" sz="661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시험 절차 및 경보 알림 결과 모니터링</a:t>
            </a:r>
            <a:r>
              <a:rPr lang="en-US" altLang="ko-KR" sz="661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</a:t>
            </a:r>
            <a:endParaRPr lang="en-US" altLang="ko-KR" sz="992">
              <a:solidFill>
                <a:schemeClr val="tx1">
                  <a:lumMod val="65000"/>
                  <a:lumOff val="35000"/>
                </a:schemeClr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DFF0F-F11E-41A4-953D-A40C408C0C79}"/>
              </a:ext>
            </a:extLst>
          </p:cNvPr>
          <p:cNvSpPr txBox="1"/>
          <p:nvPr/>
        </p:nvSpPr>
        <p:spPr>
          <a:xfrm>
            <a:off x="6756152" y="2397600"/>
            <a:ext cx="906017" cy="24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Online</a:t>
            </a:r>
            <a:r>
              <a:rPr lang="ko-KR" altLang="en-US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(USB)</a:t>
            </a:r>
            <a:endParaRPr lang="ko-KR" altLang="en-US" sz="88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7339044-C3ED-4739-80D8-F514631AFB66}"/>
              </a:ext>
            </a:extLst>
          </p:cNvPr>
          <p:cNvSpPr txBox="1"/>
          <p:nvPr/>
        </p:nvSpPr>
        <p:spPr>
          <a:xfrm>
            <a:off x="2895719" y="3959810"/>
            <a:ext cx="518091" cy="24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(USB)</a:t>
            </a:r>
            <a:endParaRPr lang="ko-KR" altLang="en-US" sz="88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338528F-29A9-43F4-BFFA-878E3AF2875D}"/>
              </a:ext>
            </a:extLst>
          </p:cNvPr>
          <p:cNvSpPr txBox="1"/>
          <p:nvPr/>
        </p:nvSpPr>
        <p:spPr>
          <a:xfrm>
            <a:off x="7819441" y="4643747"/>
            <a:ext cx="700833" cy="24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</a:t>
            </a:r>
            <a:r>
              <a:rPr lang="ko-KR" altLang="en-US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엑셀파일</a:t>
            </a: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)</a:t>
            </a:r>
            <a:endParaRPr lang="ko-KR" altLang="en-US" sz="88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B46FBC0-6233-452F-813C-935D584E1F01}"/>
              </a:ext>
            </a:extLst>
          </p:cNvPr>
          <p:cNvSpPr txBox="1"/>
          <p:nvPr/>
        </p:nvSpPr>
        <p:spPr>
          <a:xfrm>
            <a:off x="2620868" y="4978835"/>
            <a:ext cx="1255472" cy="24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ko-KR" altLang="en-US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영상 압축 파일</a:t>
            </a: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(.mp4)</a:t>
            </a:r>
            <a:endParaRPr lang="ko-KR" altLang="en-US" sz="88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6F6472C-435C-4B1A-810C-03C28E5AA2D8}"/>
              </a:ext>
            </a:extLst>
          </p:cNvPr>
          <p:cNvSpPr txBox="1"/>
          <p:nvPr/>
        </p:nvSpPr>
        <p:spPr>
          <a:xfrm>
            <a:off x="4348228" y="5247401"/>
            <a:ext cx="2034531" cy="24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(E-CAN, B-CAN, P-CAN, SUB CH)</a:t>
            </a:r>
            <a:endParaRPr lang="ko-KR" altLang="en-US" sz="88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92" name="그림 211">
            <a:extLst>
              <a:ext uri="{FF2B5EF4-FFF2-40B4-BE49-F238E27FC236}">
                <a16:creationId xmlns:a16="http://schemas.microsoft.com/office/drawing/2014/main" id="{A252D9D1-9D5C-459C-9FDB-C3457C1F02B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011" y="1490234"/>
            <a:ext cx="421191" cy="599998"/>
          </a:xfrm>
          <a:prstGeom prst="rect">
            <a:avLst/>
          </a:prstGeom>
        </p:spPr>
      </p:pic>
      <p:cxnSp>
        <p:nvCxnSpPr>
          <p:cNvPr id="98" name="Straight Arrow Connector 113">
            <a:extLst>
              <a:ext uri="{FF2B5EF4-FFF2-40B4-BE49-F238E27FC236}">
                <a16:creationId xmlns:a16="http://schemas.microsoft.com/office/drawing/2014/main" id="{44AF5E4F-EBFB-4224-9B2E-9D71D02CEA64}"/>
              </a:ext>
            </a:extLst>
          </p:cNvPr>
          <p:cNvCxnSpPr>
            <a:cxnSpLocks/>
          </p:cNvCxnSpPr>
          <p:nvPr/>
        </p:nvCxnSpPr>
        <p:spPr>
          <a:xfrm flipH="1">
            <a:off x="8608606" y="2127516"/>
            <a:ext cx="1" cy="29142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7F4C81F-CBC1-46F3-A27C-6226177E215C}"/>
              </a:ext>
            </a:extLst>
          </p:cNvPr>
          <p:cNvSpPr txBox="1"/>
          <p:nvPr/>
        </p:nvSpPr>
        <p:spPr>
          <a:xfrm>
            <a:off x="4484882" y="2329230"/>
            <a:ext cx="540433" cy="22672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19842" tIns="19842" rIns="19842" bIns="19842">
            <a:spAutoFit/>
          </a:bodyPr>
          <a:lstStyle/>
          <a:p>
            <a:pPr algn="ctr"/>
            <a:r>
              <a:rPr lang="en-US" altLang="ko-KR" sz="1213">
                <a:solidFill>
                  <a:schemeClr val="bg1"/>
                </a:solidFill>
              </a:rPr>
              <a:t>R158</a:t>
            </a:r>
            <a:endParaRPr lang="en-US" sz="1213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AE9F2F4-9ECA-424A-ACAA-50104CD726D1}"/>
              </a:ext>
            </a:extLst>
          </p:cNvPr>
          <p:cNvSpPr txBox="1"/>
          <p:nvPr/>
        </p:nvSpPr>
        <p:spPr>
          <a:xfrm>
            <a:off x="5073070" y="2329230"/>
            <a:ext cx="540433" cy="22672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19842" tIns="19842" rIns="19842" bIns="19842">
            <a:spAutoFit/>
          </a:bodyPr>
          <a:lstStyle/>
          <a:p>
            <a:pPr algn="ctr"/>
            <a:r>
              <a:rPr lang="en-US" altLang="ko-KR" sz="1213">
                <a:solidFill>
                  <a:schemeClr val="bg1"/>
                </a:solidFill>
              </a:rPr>
              <a:t>R175</a:t>
            </a:r>
            <a:endParaRPr lang="en-US" sz="1213">
              <a:solidFill>
                <a:schemeClr val="bg1"/>
              </a:solidFill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810A01D-6769-4BF8-A84A-FFBC7E8A7A19}"/>
              </a:ext>
            </a:extLst>
          </p:cNvPr>
          <p:cNvSpPr txBox="1"/>
          <p:nvPr/>
        </p:nvSpPr>
        <p:spPr>
          <a:xfrm>
            <a:off x="4013951" y="6145955"/>
            <a:ext cx="2625250" cy="278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① </a:t>
            </a:r>
            <a:r>
              <a:rPr lang="en-US" altLang="ko-KR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 </a:t>
            </a:r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차량 제어</a:t>
            </a:r>
            <a:r>
              <a:rPr lang="en-US" altLang="ko-KR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/</a:t>
            </a:r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기능 검증</a:t>
            </a:r>
            <a:r>
              <a:rPr lang="en-US" altLang="ko-KR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/</a:t>
            </a:r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모니터링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D5DAD0A-0C76-45F6-A212-ACDAA7010E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055" y="3160147"/>
            <a:ext cx="541102" cy="541102"/>
          </a:xfrm>
          <a:prstGeom prst="rect">
            <a:avLst/>
          </a:prstGeom>
        </p:spPr>
      </p:pic>
      <p:cxnSp>
        <p:nvCxnSpPr>
          <p:cNvPr id="106" name="Straight Arrow Connector 113">
            <a:extLst>
              <a:ext uri="{FF2B5EF4-FFF2-40B4-BE49-F238E27FC236}">
                <a16:creationId xmlns:a16="http://schemas.microsoft.com/office/drawing/2014/main" id="{DB29DC12-2CE4-4235-89AA-30520E5E70DF}"/>
              </a:ext>
            </a:extLst>
          </p:cNvPr>
          <p:cNvCxnSpPr>
            <a:cxnSpLocks/>
            <a:stCxn id="176" idx="2"/>
            <a:endCxn id="16" idx="0"/>
          </p:cNvCxnSpPr>
          <p:nvPr/>
        </p:nvCxnSpPr>
        <p:spPr>
          <a:xfrm flipH="1">
            <a:off x="8587606" y="2917196"/>
            <a:ext cx="1801" cy="24295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8AAB068A-3B1B-41B3-8FCB-9E4E28ABD232}"/>
              </a:ext>
            </a:extLst>
          </p:cNvPr>
          <p:cNvSpPr txBox="1"/>
          <p:nvPr/>
        </p:nvSpPr>
        <p:spPr>
          <a:xfrm>
            <a:off x="8585755" y="2932330"/>
            <a:ext cx="445198" cy="26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9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저장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6CB4F2B-1DAD-45F2-BBB8-35EADE52C501}"/>
              </a:ext>
            </a:extLst>
          </p:cNvPr>
          <p:cNvSpPr txBox="1"/>
          <p:nvPr/>
        </p:nvSpPr>
        <p:spPr>
          <a:xfrm>
            <a:off x="8634779" y="2097389"/>
            <a:ext cx="695475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07943" latinLnBrk="1"/>
            <a:r>
              <a:rPr lang="ko-KR" altLang="en-US" sz="992" b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경보음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24FBA2B-786D-481A-9E78-CC3DC6B58C49}"/>
              </a:ext>
            </a:extLst>
          </p:cNvPr>
          <p:cNvSpPr txBox="1"/>
          <p:nvPr/>
        </p:nvSpPr>
        <p:spPr>
          <a:xfrm>
            <a:off x="1339934" y="5590547"/>
            <a:ext cx="555806" cy="26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ko-KR" altLang="en-US" sz="1102" b="1">
                <a:latin typeface="+mj-ea"/>
                <a:ea typeface="+mj-ea"/>
              </a:rPr>
              <a:t>실차 </a:t>
            </a:r>
          </a:p>
        </p:txBody>
      </p:sp>
      <p:cxnSp>
        <p:nvCxnSpPr>
          <p:cNvPr id="115" name="Straight Arrow Connector 113">
            <a:extLst>
              <a:ext uri="{FF2B5EF4-FFF2-40B4-BE49-F238E27FC236}">
                <a16:creationId xmlns:a16="http://schemas.microsoft.com/office/drawing/2014/main" id="{ACC3B851-40E9-4DA5-A6D7-2AE43589B35E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>
            <a:off x="6219382" y="2886952"/>
            <a:ext cx="2097672" cy="543745"/>
          </a:xfrm>
          <a:prstGeom prst="bentConnector3">
            <a:avLst>
              <a:gd name="adj1" fmla="val 30031"/>
            </a:avLst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6EC1D77-AEB6-4E1D-A155-3D51BB04F919}"/>
              </a:ext>
            </a:extLst>
          </p:cNvPr>
          <p:cNvSpPr txBox="1"/>
          <p:nvPr/>
        </p:nvSpPr>
        <p:spPr>
          <a:xfrm>
            <a:off x="6400593" y="2860580"/>
            <a:ext cx="1382182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Offline playback</a:t>
            </a:r>
            <a:endParaRPr lang="ko-KR" altLang="en-US" sz="99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7BF0AD9-E5B1-4483-B907-0CC9629027E1}"/>
              </a:ext>
            </a:extLst>
          </p:cNvPr>
          <p:cNvSpPr txBox="1"/>
          <p:nvPr/>
        </p:nvSpPr>
        <p:spPr>
          <a:xfrm>
            <a:off x="6538707" y="3025134"/>
            <a:ext cx="1125629" cy="24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ko-KR" altLang="en-US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오디오 파일</a:t>
            </a: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(.wav)</a:t>
            </a:r>
            <a:endParaRPr lang="ko-KR" altLang="en-US" sz="88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1A107C9-D261-4508-9188-7B13C35B3E5C}"/>
              </a:ext>
            </a:extLst>
          </p:cNvPr>
          <p:cNvSpPr txBox="1"/>
          <p:nvPr/>
        </p:nvSpPr>
        <p:spPr>
          <a:xfrm>
            <a:off x="5650899" y="2329231"/>
            <a:ext cx="540433" cy="22672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19842" tIns="19842" rIns="19842" bIns="19842">
            <a:spAutoFit/>
          </a:bodyPr>
          <a:lstStyle/>
          <a:p>
            <a:pPr algn="ctr"/>
            <a:r>
              <a:rPr lang="en-US" altLang="ko-KR" sz="1213">
                <a:solidFill>
                  <a:schemeClr val="bg1"/>
                </a:solidFill>
              </a:rPr>
              <a:t>NCAP</a:t>
            </a:r>
            <a:endParaRPr lang="en-US" sz="1213">
              <a:solidFill>
                <a:schemeClr val="bg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64D4E46-4E4D-410C-BC71-ACE4A2F88C5A}"/>
              </a:ext>
            </a:extLst>
          </p:cNvPr>
          <p:cNvSpPr txBox="1"/>
          <p:nvPr/>
        </p:nvSpPr>
        <p:spPr>
          <a:xfrm>
            <a:off x="6745056" y="2259712"/>
            <a:ext cx="1756389" cy="211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72" b="1">
                <a:solidFill>
                  <a:schemeClr val="accent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영상 신호간 목표 오차범위 </a:t>
            </a:r>
            <a:r>
              <a:rPr lang="en-US" altLang="ko-KR" sz="772" b="1">
                <a:solidFill>
                  <a:schemeClr val="accent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±30ms</a:t>
            </a:r>
            <a:endParaRPr lang="en-US" sz="1764" b="1">
              <a:solidFill>
                <a:schemeClr val="accent1"/>
              </a:solidFill>
            </a:endParaRPr>
          </a:p>
        </p:txBody>
      </p:sp>
      <p:sp>
        <p:nvSpPr>
          <p:cNvPr id="60" name="모서리가 둥근 직사각형 64">
            <a:extLst>
              <a:ext uri="{FF2B5EF4-FFF2-40B4-BE49-F238E27FC236}">
                <a16:creationId xmlns:a16="http://schemas.microsoft.com/office/drawing/2014/main" id="{DA640D95-53A5-4308-B53A-8039C2E6D323}"/>
              </a:ext>
            </a:extLst>
          </p:cNvPr>
          <p:cNvSpPr/>
          <p:nvPr/>
        </p:nvSpPr>
        <p:spPr>
          <a:xfrm>
            <a:off x="4452275" y="3258580"/>
            <a:ext cx="1771798" cy="1449599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br>
              <a:rPr lang="en-US" altLang="ko-KR" sz="1323">
                <a:solidFill>
                  <a:schemeClr val="tx1"/>
                </a:solidFill>
              </a:rPr>
            </a:br>
            <a:r>
              <a:rPr lang="ko-KR" altLang="en-US" sz="1323">
                <a:solidFill>
                  <a:schemeClr val="tx1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실차 신호 데이터</a:t>
            </a:r>
          </a:p>
          <a:p>
            <a:pPr algn="ctr">
              <a:lnSpc>
                <a:spcPct val="120000"/>
              </a:lnSpc>
            </a:pPr>
            <a:r>
              <a:rPr lang="ko-KR" altLang="en-US" sz="1323">
                <a:solidFill>
                  <a:schemeClr val="tx1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검증 자동화 모듈</a:t>
            </a:r>
          </a:p>
          <a:p>
            <a:pPr algn="ctr"/>
            <a:endParaRPr lang="ko-KR" altLang="en-US" sz="1323">
              <a:solidFill>
                <a:schemeClr val="tx1"/>
              </a:solidFill>
            </a:endParaRPr>
          </a:p>
        </p:txBody>
      </p:sp>
      <p:pic>
        <p:nvPicPr>
          <p:cNvPr id="226" name="그림 66">
            <a:extLst>
              <a:ext uri="{FF2B5EF4-FFF2-40B4-BE49-F238E27FC236}">
                <a16:creationId xmlns:a16="http://schemas.microsoft.com/office/drawing/2014/main" id="{3F13E4B6-3CF1-4262-9972-0B44C6BF34E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193" y="4246357"/>
            <a:ext cx="269681" cy="297836"/>
          </a:xfrm>
          <a:prstGeom prst="rect">
            <a:avLst/>
          </a:prstGeom>
        </p:spPr>
      </p:pic>
      <p:sp>
        <p:nvSpPr>
          <p:cNvPr id="232" name="TextBox 231">
            <a:extLst>
              <a:ext uri="{FF2B5EF4-FFF2-40B4-BE49-F238E27FC236}">
                <a16:creationId xmlns:a16="http://schemas.microsoft.com/office/drawing/2014/main" id="{363DE4D4-63C2-4BAE-9FF6-5DD29E467951}"/>
              </a:ext>
            </a:extLst>
          </p:cNvPr>
          <p:cNvSpPr txBox="1"/>
          <p:nvPr/>
        </p:nvSpPr>
        <p:spPr>
          <a:xfrm>
            <a:off x="5708603" y="4490179"/>
            <a:ext cx="592485" cy="207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66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수행이력</a:t>
            </a:r>
          </a:p>
        </p:txBody>
      </p:sp>
    </p:spTree>
    <p:extLst>
      <p:ext uri="{BB962C8B-B14F-4D97-AF65-F5344CB8AC3E}">
        <p14:creationId xmlns:p14="http://schemas.microsoft.com/office/powerpoint/2010/main" val="3186984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3. 기어 / 클러스터 변화 인식 기술 – 처리 흐름과 판정 원리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4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웹캠 2채널이 관심 영역(ROI · Region of Interest)만 관측하고, 정규화 상호상관(NCC) 단일 수치로 판정합니다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07899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85824" y="1246251"/>
            <a:ext cx="118872" cy="100584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42974" y="1217676"/>
            <a:ext cx="118872" cy="1005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81074" y="1255776"/>
            <a:ext cx="48006" cy="48006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 flipV="1">
            <a:off x="1352511" y="1227201"/>
            <a:ext cx="23813" cy="14287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52511" y="1293876"/>
            <a:ext cx="23813" cy="14287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6324" y="1227201"/>
            <a:ext cx="0" cy="80962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0624" y="144475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웹캠 2CH 취득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183794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CH1 클러스터 · CH2 기어봉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196388" y="1344167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452420" y="107899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3227146" y="1246251"/>
            <a:ext cx="0" cy="13335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27146" y="1379601"/>
            <a:ext cx="13335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65246" y="1208151"/>
            <a:ext cx="13335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398596" y="1208151"/>
            <a:ext cx="0" cy="13335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265246" y="1246251"/>
            <a:ext cx="96012" cy="96012"/>
          </a:xfrm>
          <a:prstGeom prst="rect">
            <a:avLst/>
          </a:prstGeom>
          <a:noFill/>
          <a:ln w="1270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52420" y="144475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ROI 추출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420" y="183794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판정 영역만 추출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4228185" y="1344167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84217" y="107899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58943" y="1217676"/>
            <a:ext cx="171450" cy="150876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 flipV="1">
            <a:off x="5287518" y="1284351"/>
            <a:ext cx="38100" cy="3810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25618" y="1284351"/>
            <a:ext cx="38099" cy="47625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363717" y="1274826"/>
            <a:ext cx="38101" cy="5715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378005" y="1327213"/>
            <a:ext cx="82296" cy="8229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5392292" y="1360551"/>
            <a:ext cx="19051" cy="1905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411343" y="1336738"/>
            <a:ext cx="28575" cy="42863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84217" y="144475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정답 등록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4217" y="183794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드래그 순간의 프레임을
정답으로 라이브 캡처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6259982" y="1344167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16014" y="107899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281214" y="1217676"/>
            <a:ext cx="96012" cy="96012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376464" y="1217676"/>
            <a:ext cx="96012" cy="96012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7328839" y="1341501"/>
            <a:ext cx="9525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28839" y="1370076"/>
            <a:ext cx="9525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347889" y="1241488"/>
            <a:ext cx="57150" cy="5715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443139" y="1241488"/>
            <a:ext cx="57150" cy="5715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16014" y="144475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NCC 계산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6014" y="183794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정답과 현재 화면의
닮은 정도를 숫자 하나로 표현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8291779" y="1344167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547811" y="107899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341586" y="1284351"/>
            <a:ext cx="132588" cy="96012"/>
          </a:xfrm>
          <a:prstGeom prst="roundRect">
            <a:avLst>
              <a:gd name="adj" fmla="val 12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 flipV="1">
            <a:off x="9370161" y="1246251"/>
            <a:ext cx="0" cy="3810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370161" y="1246251"/>
            <a:ext cx="7620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446361" y="1246251"/>
            <a:ext cx="0" cy="3810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396831" y="1322451"/>
            <a:ext cx="22860" cy="22860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47811" y="144475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임계 비교 · 래치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" y="2359152"/>
            <a:ext cx="507492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판정 지표 — NCC  (Normalized Cross-Correlation · 정규화 상호상관)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0624" y="2651760"/>
            <a:ext cx="2103120" cy="256032"/>
          </a:xfrm>
          <a:prstGeom prst="roundRect">
            <a:avLst>
              <a:gd name="adj" fmla="val 22000"/>
            </a:avLst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0624" y="2651760"/>
            <a:ext cx="210312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나눔스퀘어 네오 OTF Bold"/>
              </a:rPr>
              <a:t>OpenCV  matchTemplate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33472" y="2651760"/>
            <a:ext cx="2862072" cy="25603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나눔스퀘어 네오 OTF Regular"/>
              </a:rPr>
              <a:t>두 이미지의 유사도를 하나의 수치로 표현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0624" y="2980944"/>
            <a:ext cx="5074920" cy="1755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426464" y="3054096"/>
            <a:ext cx="1000353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002878"/>
                </a:solidFill>
                <a:latin typeface="나눔스퀘어 네오 OTF Bold"/>
              </a:rPr>
              <a:t>정답 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95727" y="3054096"/>
            <a:ext cx="1000353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002878"/>
                </a:solidFill>
                <a:latin typeface="나눔스퀘어 네오 OTF Bold"/>
              </a:rPr>
              <a:t>현재 화면 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64991" y="3054096"/>
            <a:ext cx="1000353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002878"/>
                </a:solidFill>
                <a:latin typeface="나눔스퀘어 네오 OTF Bold"/>
              </a:rPr>
              <a:t>같은 자리 비교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53712" y="3054096"/>
            <a:ext cx="868680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002878"/>
                </a:solidFill>
                <a:latin typeface="나눔스퀘어 네오 OTF Bold"/>
              </a:rPr>
              <a:t>결과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3291840"/>
            <a:ext cx="1005840" cy="29260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나눔스퀘어 네오 OTF Bold"/>
              </a:rPr>
              <a:t>유사한 경우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9344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717243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825142" y="320040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933041" y="320040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040940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148840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609344" y="330829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717243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825142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933041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040940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148840" y="330829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609344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717243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825142" y="341619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933041" y="341619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040940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148840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609344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717243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825142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933041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040940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2148840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609344" y="3631996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717243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825142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933041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2040940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2148840" y="3631996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2578608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686507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794406" y="320040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902305" y="320040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10204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3118103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78608" y="330829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2686507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794406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2902305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010204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3118103" y="330829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578608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2686507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2794406" y="341619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2902305" y="341619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010204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118103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2578608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2686507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794406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902305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3010204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3118103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78608" y="3631996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6507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794406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02305" y="3631996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10204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118103" y="3631996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547872" y="320040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655771" y="320040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763670" y="320040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871569" y="320040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979468" y="320040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4087368" y="320040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3547872" y="3308299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3655771" y="3308299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3763670" y="3308299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3871569" y="3308299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3979468" y="3308299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087368" y="3308299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3547872" y="341619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3655771" y="341619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3763670" y="341619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3871569" y="341619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979468" y="341619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4087368" y="341619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3547872" y="3524097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3655771" y="3524097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763670" y="3524097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3871569" y="3524097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3979468" y="3524097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4087368" y="3524097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3547872" y="3631996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3655771" y="3631996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3763670" y="3631996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3871569" y="3631996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3979468" y="3631996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4087368" y="3631996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2262225" y="3200400"/>
            <a:ext cx="27432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나눔스퀘어 네오 OTF Regular"/>
              </a:rPr>
              <a:t>vs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231489" y="3200400"/>
            <a:ext cx="27432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8C8C8C"/>
                </a:solidFill>
                <a:latin typeface="나눔스퀘어 네오 OTF Bold"/>
              </a:rPr>
              <a:t>→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462272" y="3200400"/>
            <a:ext cx="100584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1100" b="1">
                <a:solidFill>
                  <a:srgbClr val="3E8853"/>
                </a:solidFill>
                <a:latin typeface="나눔스퀘어 네오 OTF Bold"/>
              </a:rPr>
              <a:t>NCC 0.96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3E8853"/>
                </a:solidFill>
                <a:latin typeface="나눔스퀘어 네오 OTF Bold"/>
              </a:rPr>
              <a:t>PASS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48640" y="4005072"/>
            <a:ext cx="1005840" cy="29260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나눔스퀘어 네오 OTF Bold"/>
              </a:rPr>
              <a:t>상이한 경우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609344" y="3913632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1717243" y="3913632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825142" y="3913632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1933041" y="3913632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2040940" y="3913632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2148840" y="3913632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1609344" y="4021531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1717243" y="4021531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1825142" y="4021531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1933041" y="4021531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2040940" y="4021531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2148840" y="4021531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1609344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1717243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1825142" y="412943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1933041" y="412943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2040940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2148840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1609344" y="423732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717243" y="423732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825142" y="423732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933041" y="423732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2040940" y="423732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2148840" y="423732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609344" y="434522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717243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825142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933041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2040940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2148840" y="434522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2578608" y="3913632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2686507" y="3913632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2794406" y="3913632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2902305" y="3913632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3010204" y="3913632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3118103" y="3913632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2578608" y="4021531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2686507" y="4021531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2794406" y="4021531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2902305" y="4021531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3010204" y="4021531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3118103" y="4021531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2578608" y="412943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2686507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2794406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2902305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3010204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3118103" y="412943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2578608" y="423732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2686507" y="423732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2794406" y="423732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2902305" y="423732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3010204" y="423732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3118103" y="423732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2578608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2686507" y="434522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2794406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2902305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3010204" y="434522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3118103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3547872" y="3913632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3655771" y="3913632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3763670" y="3913632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3871569" y="3913632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3979468" y="3913632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4087368" y="3913632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3547872" y="4021531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3655771" y="4021531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3763670" y="4021531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3871569" y="4021531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3979468" y="4021531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4087368" y="4021531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3547872" y="4129430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3655771" y="412943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3763670" y="4129430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3871569" y="4129430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3979468" y="412943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4087368" y="4129430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3547872" y="4237329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3655771" y="4237329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3763670" y="4237329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3871569" y="4237329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3979468" y="4237329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4087368" y="4237329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3547872" y="4345228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3655771" y="4345228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3763670" y="434522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3871569" y="434522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3979468" y="4345228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4087368" y="4345228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262225" y="3913632"/>
            <a:ext cx="27432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나눔스퀘어 네오 OTF Regular"/>
              </a:rPr>
              <a:t>vs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3231489" y="3913632"/>
            <a:ext cx="27432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8C8C8C"/>
                </a:solidFill>
                <a:latin typeface="나눔스퀘어 네오 OTF Bold"/>
              </a:rPr>
              <a:t>→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462272" y="3913632"/>
            <a:ext cx="100584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1100" b="1">
                <a:solidFill>
                  <a:srgbClr val="C00000"/>
                </a:solidFill>
                <a:latin typeface="나눔스퀘어 네오 OTF Bold"/>
              </a:rPr>
              <a:t>NCC 0.31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C00000"/>
                </a:solidFill>
                <a:latin typeface="나눔스퀘어 네오 OTF Bold"/>
              </a:rPr>
              <a:t>FAIL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66928" y="4553712"/>
            <a:ext cx="100584" cy="100584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713232" y="4507992"/>
            <a:ext cx="10515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평균보다 밝은 칸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1792224" y="4553712"/>
            <a:ext cx="100584" cy="100584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1938528" y="4507992"/>
            <a:ext cx="10515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어두운 칸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3017520" y="4553712"/>
            <a:ext cx="100584" cy="10058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3163824" y="4507992"/>
            <a:ext cx="10515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방향 일치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4242816" y="4553712"/>
            <a:ext cx="100584" cy="1005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4389120" y="4507992"/>
            <a:ext cx="10515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불일치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20624" y="4846320"/>
            <a:ext cx="5074920" cy="40233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· 각 이미지에서 평균 밝기를 제거 → 화면이 밝아지거나 어두워져도 결과가 동일합니다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· 각 이미지의 대비로 정규화 → 대비가 달라져도 결과가 동일합니다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94944" y="5504688"/>
            <a:ext cx="4526280" cy="12801"/>
          </a:xfrm>
          <a:prstGeom prst="rect">
            <a:avLst/>
          </a:prstGeom>
          <a:solidFill>
            <a:srgbClr val="C8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4655439" y="5436107"/>
            <a:ext cx="565785" cy="150876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687628" y="5436107"/>
            <a:ext cx="14630" cy="150876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420624" y="5623559"/>
            <a:ext cx="12801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−1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0624" y="5797296"/>
            <a:ext cx="12801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명암 반전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2950768" y="5436107"/>
            <a:ext cx="14630" cy="150876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2318004" y="5623559"/>
            <a:ext cx="12801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0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318004" y="5797296"/>
            <a:ext cx="12801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관계 없음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5213908" y="5436107"/>
            <a:ext cx="14630" cy="150876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4581144" y="5623559"/>
            <a:ext cx="12801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+1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581144" y="5797296"/>
            <a:ext cx="12801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동일한 패턴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420624" y="5248655"/>
            <a:ext cx="507492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3E8853"/>
                </a:solidFill>
                <a:latin typeface="나눔스퀘어 네오 OTF Bold"/>
              </a:rPr>
              <a:t>임계 0.75 이상 → PASS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420624" y="6035040"/>
            <a:ext cx="5074920" cy="438912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48640" y="6035040"/>
            <a:ext cx="4818888" cy="4389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위 과정의 수식 표현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NCC = Σ( I−Ī )( T−T̄ )  ⁄  √Σ( I−Ī )² · √Σ( T−T̄ )²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420624" y="6547104"/>
            <a:ext cx="5074920" cy="402336"/>
          </a:xfrm>
          <a:prstGeom prst="roundRect">
            <a:avLst>
              <a:gd name="adj" fmla="val 7000"/>
            </a:avLst>
          </a:prstGeom>
          <a:solidFill>
            <a:srgbClr val="FFF9E1"/>
          </a:solidFill>
          <a:ln w="9525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75" name="Connector 274"/>
          <p:cNvCxnSpPr/>
          <p:nvPr/>
        </p:nvCxnSpPr>
        <p:spPr>
          <a:xfrm>
            <a:off x="578358" y="6689598"/>
            <a:ext cx="0" cy="138684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578358" y="6828282"/>
            <a:ext cx="138684" cy="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617982" y="6649974"/>
            <a:ext cx="138684" cy="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756666" y="6649974"/>
            <a:ext cx="0" cy="138684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Rectangle 278"/>
          <p:cNvSpPr/>
          <p:nvPr/>
        </p:nvSpPr>
        <p:spPr>
          <a:xfrm>
            <a:off x="617982" y="6689598"/>
            <a:ext cx="99852" cy="99852"/>
          </a:xfrm>
          <a:prstGeom prst="rect">
            <a:avLst/>
          </a:prstGeom>
          <a:noFill/>
          <a:ln w="1270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877824" y="6547104"/>
            <a:ext cx="4507992" cy="40233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B87400"/>
                </a:solidFill>
                <a:latin typeface="나눔스퀘어 네오 OTF Bold"/>
              </a:rPr>
              <a:t>ROI 는 경고 팝업 · R 표시 영역만 지정 — 속도계 · 시계가 포함되면 판정 정확도가 저하됩니다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5760720" y="2359152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왜 NCC를 선택했는가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5760720" y="2633472"/>
            <a:ext cx="4507992" cy="914400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5907024" y="2752344"/>
            <a:ext cx="421538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① 촬영 조건이 달라져도 같은 판정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5907024" y="2999232"/>
            <a:ext cx="4215384" cy="4389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밝기와 대비를 정규화한 뒤 비교하므로, 계기판 밝기 · 실내 조명 · 카메라 노출이 달라져도 같은 결과가 나옵니다.</a:t>
            </a:r>
          </a:p>
        </p:txBody>
      </p:sp>
      <p:sp>
        <p:nvSpPr>
          <p:cNvPr id="285" name="Rounded Rectangle 284"/>
          <p:cNvSpPr/>
          <p:nvPr/>
        </p:nvSpPr>
        <p:spPr>
          <a:xfrm>
            <a:off x="5760720" y="3621024"/>
            <a:ext cx="4507992" cy="914400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5907024" y="3739896"/>
            <a:ext cx="421538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② 설명 가능 · 결정론적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907024" y="3986784"/>
            <a:ext cx="4215384" cy="4389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동일 입력에 항상 동일한 결과가 산출되며, 산출 과정을 수식으로 제시할 수 있어 인증 근거로 적합합니다.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5760720" y="4608576"/>
            <a:ext cx="4507992" cy="1499616"/>
          </a:xfrm>
          <a:prstGeom prst="roundRect">
            <a:avLst>
              <a:gd name="adj" fmla="val 5000"/>
            </a:avLst>
          </a:prstGeom>
          <a:solidFill>
            <a:srgbClr val="EEF4FF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5907024" y="4709160"/>
            <a:ext cx="421538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③ 차종이 바뀌어도 재학습이 없습니다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5907024" y="4992624"/>
            <a:ext cx="4215384" cy="102412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· 딥러닝 :  차종마다 데이터 수집 · 라벨링 · 재학습이 필요합니다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· NCC :  ROI 재지정과 기준 프레임 재캡처로 대응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코드 변경 · 재빌드 · 재학습 없이 신규 차종에 대응합니다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760720" y="6217920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화면 표시 예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5760720" y="6473952"/>
            <a:ext cx="450799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5888736" y="6473952"/>
            <a:ext cx="118872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3E8853"/>
                </a:solidFill>
                <a:latin typeface="나눔스퀘어 네오 OTF Bold"/>
              </a:rPr>
              <a:t>매칭도 96 %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7132320" y="6656832"/>
            <a:ext cx="2990088" cy="118872"/>
          </a:xfrm>
          <a:prstGeom prst="rect">
            <a:avLst/>
          </a:prstGeom>
          <a:solidFill>
            <a:srgbClr val="E8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7132320" y="6656832"/>
            <a:ext cx="2870484" cy="118872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9374886" y="6601968"/>
            <a:ext cx="18288" cy="228600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8826246" y="6803136"/>
            <a:ext cx="1097280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1">
                <a:solidFill>
                  <a:srgbClr val="002878"/>
                </a:solidFill>
                <a:latin typeface="나눔스퀘어 네오 OTF Bold"/>
              </a:rPr>
              <a:t>임계 75 %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4. 경고음 인식 기술 – 처리 흐름과 판정 원리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5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기대 경고음의 펄스 전체를 정합필터로 사용하고, 음색과 파형 두 지표를 모두 만족할 때만 PASS 로 확정합니다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133856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04874" y="1258252"/>
            <a:ext cx="150876" cy="180594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228686" y="1339215"/>
            <a:ext cx="0" cy="3810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49641" y="1320165"/>
            <a:ext cx="0" cy="7620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70596" y="1334452"/>
            <a:ext cx="0" cy="47625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91551" y="1310640"/>
            <a:ext cx="0" cy="9525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12506" y="1329690"/>
            <a:ext cx="0" cy="5715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461" y="1343977"/>
            <a:ext cx="0" cy="28575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0624" y="1499616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기대음 등록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1892807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경고음 WAV 를 등록하고
펄스 전체를 비교 기준으로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2196388" y="1399031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452420" y="1133856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3227146" y="1434465"/>
            <a:ext cx="171450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41433" y="1386840"/>
            <a:ext cx="17145" cy="47624"/>
          </a:xfrm>
          <a:prstGeom prst="rect">
            <a:avLst/>
          </a:prstGeom>
          <a:noFill/>
          <a:ln w="1397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70961" y="1348740"/>
            <a:ext cx="17145" cy="85725"/>
          </a:xfrm>
          <a:prstGeom prst="rect">
            <a:avLst/>
          </a:prstGeom>
          <a:noFill/>
          <a:ln w="1397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00488" y="1282065"/>
            <a:ext cx="17145" cy="152400"/>
          </a:xfrm>
          <a:prstGeom prst="rect">
            <a:avLst/>
          </a:prstGeom>
          <a:solidFill>
            <a:srgbClr val="002878"/>
          </a:solidFill>
          <a:ln w="1397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30016" y="1329690"/>
            <a:ext cx="17145" cy="104775"/>
          </a:xfrm>
          <a:prstGeom prst="rect">
            <a:avLst/>
          </a:prstGeom>
          <a:noFill/>
          <a:ln w="1397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59543" y="1377315"/>
            <a:ext cx="17145" cy="57150"/>
          </a:xfrm>
          <a:prstGeom prst="rect">
            <a:avLst/>
          </a:prstGeom>
          <a:noFill/>
          <a:ln w="1397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89071" y="1405890"/>
            <a:ext cx="17145" cy="28575"/>
          </a:xfrm>
          <a:prstGeom prst="rect">
            <a:avLst/>
          </a:prstGeom>
          <a:noFill/>
          <a:ln w="1397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52420" y="1499616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목표 주파수 / 파형 산출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2420" y="1892807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Hanning + FFT 로
펄스의 음색 · 파형 추출</a:t>
            </a:r>
          </a:p>
        </p:txBody>
      </p:sp>
      <p:sp>
        <p:nvSpPr>
          <p:cNvPr id="28" name="Isosceles Triangle 27"/>
          <p:cNvSpPr/>
          <p:nvPr/>
        </p:nvSpPr>
        <p:spPr>
          <a:xfrm rot="5400000">
            <a:off x="4228185" y="1399031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484217" y="1133856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316093" y="1263015"/>
            <a:ext cx="57150" cy="10515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5287518" y="1348740"/>
            <a:ext cx="0" cy="1905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87518" y="1367790"/>
            <a:ext cx="11430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401818" y="1348740"/>
            <a:ext cx="0" cy="1905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344668" y="1367790"/>
            <a:ext cx="0" cy="47625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06567" y="1415415"/>
            <a:ext cx="76201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484217" y="1499616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마이크 입력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4217" y="1892807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16bit 모노 · 48 kHz
블록 512 표본 = 10.6 ms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6259982" y="1399031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516014" y="1133856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285977" y="1291590"/>
            <a:ext cx="105156" cy="105156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362177" y="1291590"/>
            <a:ext cx="105156" cy="105156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7376464" y="1429702"/>
            <a:ext cx="0" cy="1905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16014" y="1499616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두 지표 계산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6014" y="1892807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주파수 일치도
파형 일치도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8291779" y="1399031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547811" y="1133856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341586" y="1339215"/>
            <a:ext cx="132588" cy="96012"/>
          </a:xfrm>
          <a:prstGeom prst="roundRect">
            <a:avLst>
              <a:gd name="adj" fmla="val 12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 flipV="1">
            <a:off x="9370161" y="1301115"/>
            <a:ext cx="0" cy="3810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370161" y="1301115"/>
            <a:ext cx="7620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46361" y="1301115"/>
            <a:ext cx="0" cy="3810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96831" y="1377315"/>
            <a:ext cx="22860" cy="22860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47811" y="1499616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AND 판정 · 래치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7811" y="1892807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두 지표 모두 임계 이상일 때
PASS 시각 확정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" y="2487168"/>
            <a:ext cx="507492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두 지표를 AND 조건으로 결합하는 이유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2779776"/>
            <a:ext cx="1116482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0624" y="2779776"/>
            <a:ext cx="111648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지표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37106" y="2779776"/>
            <a:ext cx="1674723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537106" y="2779776"/>
            <a:ext cx="1674723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관측 대상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11830" y="2779776"/>
            <a:ext cx="2283714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11830" y="2779776"/>
            <a:ext cx="2283714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단독 사용 시 한계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" y="3054096"/>
            <a:ext cx="111648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0624" y="3054096"/>
            <a:ext cx="1116482" cy="347472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주파수 일치도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37106" y="3054096"/>
            <a:ext cx="1674723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537106" y="3054096"/>
            <a:ext cx="1674723" cy="347472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262626"/>
                </a:solidFill>
                <a:latin typeface="나눔스퀘어 네오 OTF Regular"/>
              </a:rPr>
              <a:t>음색 — 주파수 에너지 분포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11830" y="3054096"/>
            <a:ext cx="228371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211830" y="3054096"/>
            <a:ext cx="2283714" cy="347472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262626"/>
                </a:solidFill>
                <a:latin typeface="나눔스퀘어 네오 OTF Regular"/>
              </a:rPr>
              <a:t>음높이가 비슷한 다른 경고음을 오검출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" y="3401568"/>
            <a:ext cx="111648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0624" y="3401568"/>
            <a:ext cx="1116482" cy="347472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파형 일치도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37106" y="3401568"/>
            <a:ext cx="1674723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537106" y="3401568"/>
            <a:ext cx="1674723" cy="347472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262626"/>
                </a:solidFill>
                <a:latin typeface="나눔스퀘어 네오 OTF Regular"/>
              </a:rPr>
              <a:t>파형 — 시간축 진폭 변화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11830" y="3401568"/>
            <a:ext cx="228371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211830" y="3401568"/>
            <a:ext cx="2283714" cy="347472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262626"/>
                </a:solidFill>
                <a:latin typeface="나눔스퀘어 네오 OTF Regular"/>
              </a:rPr>
              <a:t>문 닫힘 · 노크 등 충격음을 오검출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0624" y="4078224"/>
            <a:ext cx="5074920" cy="603504"/>
          </a:xfrm>
          <a:prstGeom prst="roundRect">
            <a:avLst>
              <a:gd name="adj" fmla="val 6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20624" y="4078224"/>
            <a:ext cx="5074920" cy="60350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PASS  =  ( 주파수 일치도 ≥ 0.90 )   AND   ( 파형 일치도 ≥ 0.90 )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0624" y="4809744"/>
            <a:ext cx="5074920" cy="40233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잡음이 많은 실차 실내에서는 동일 음색과 동일 파형을 함께 요구해야 합니다.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624" y="5285232"/>
            <a:ext cx="507492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기대음 등록 — 펄스 전체를 정합필터로 사용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20624" y="5577840"/>
            <a:ext cx="50749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3504" y="5724144"/>
            <a:ext cx="1481328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1">
                <a:solidFill>
                  <a:srgbClr val="B87400"/>
                </a:solidFill>
                <a:latin typeface="나눔스퀘어 네오 OTF Bold"/>
              </a:rPr>
              <a:t>기대음 (경고음 1회분)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39696" y="5806440"/>
            <a:ext cx="27432" cy="9144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190902" y="5760720"/>
            <a:ext cx="27432" cy="18288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242108" y="5724144"/>
            <a:ext cx="27432" cy="256032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293315" y="5715000"/>
            <a:ext cx="27432" cy="27432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344521" y="5728716"/>
            <a:ext cx="27432" cy="246888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395728" y="5719572"/>
            <a:ext cx="27432" cy="26517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2446934" y="5737860"/>
            <a:ext cx="27432" cy="22860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498140" y="5756148"/>
            <a:ext cx="27432" cy="19202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2549347" y="5774436"/>
            <a:ext cx="27432" cy="155448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2600553" y="5792724"/>
            <a:ext cx="27432" cy="118872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2651760" y="5811012"/>
            <a:ext cx="27432" cy="8229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702966" y="5829300"/>
            <a:ext cx="27432" cy="4572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2112264" y="5687568"/>
            <a:ext cx="632764" cy="329184"/>
          </a:xfrm>
          <a:prstGeom prst="rect">
            <a:avLst/>
          </a:prstGeom>
          <a:noFill/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139696" y="6035040"/>
            <a:ext cx="21945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1">
                <a:solidFill>
                  <a:srgbClr val="406FD8"/>
                </a:solidFill>
                <a:latin typeface="나눔스퀘어 네오 OTF Bold"/>
              </a:rPr>
              <a:t>◀    최근 0.5초 입력 구간을 이동하며 비교    ▶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3504" y="6327648"/>
            <a:ext cx="1481328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1">
                <a:solidFill>
                  <a:srgbClr val="595959"/>
                </a:solidFill>
                <a:latin typeface="나눔스퀘어 네오 OTF Bold"/>
              </a:rPr>
              <a:t>마이크 입력 (최근 0.5초)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39696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190902" y="6409944"/>
            <a:ext cx="27432" cy="54864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242108" y="6423660"/>
            <a:ext cx="27432" cy="27432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293315" y="6414516"/>
            <a:ext cx="27432" cy="45720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2344521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2395728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446934" y="6409944"/>
            <a:ext cx="27432" cy="54864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2498140" y="6423660"/>
            <a:ext cx="27432" cy="27432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549347" y="6414516"/>
            <a:ext cx="27432" cy="45720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2600553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2651760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2702966" y="6409944"/>
            <a:ext cx="27432" cy="54864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754172" y="6423660"/>
            <a:ext cx="27432" cy="27432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2805379" y="6414516"/>
            <a:ext cx="27432" cy="45720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2856585" y="6391656"/>
            <a:ext cx="27432" cy="9144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2907791" y="6345936"/>
            <a:ext cx="27432" cy="18288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2958998" y="6309360"/>
            <a:ext cx="27432" cy="256032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010204" y="6300216"/>
            <a:ext cx="27432" cy="27432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3061411" y="6313932"/>
            <a:ext cx="27432" cy="246888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3112617" y="6304788"/>
            <a:ext cx="27432" cy="26517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163824" y="6323076"/>
            <a:ext cx="27432" cy="22860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3215030" y="6341364"/>
            <a:ext cx="27432" cy="19202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3266236" y="6359652"/>
            <a:ext cx="27432" cy="155448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3317443" y="6377940"/>
            <a:ext cx="27432" cy="118872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3368649" y="6396228"/>
            <a:ext cx="27432" cy="8229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3419856" y="6414516"/>
            <a:ext cx="27432" cy="4572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3471062" y="6409944"/>
            <a:ext cx="27432" cy="54864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3522268" y="6423660"/>
            <a:ext cx="27432" cy="27432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573475" y="6414516"/>
            <a:ext cx="27432" cy="45720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624681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675887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727094" y="6409944"/>
            <a:ext cx="27432" cy="54864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778300" y="6423660"/>
            <a:ext cx="27432" cy="27432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829507" y="6414516"/>
            <a:ext cx="27432" cy="45720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80713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31920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3983126" y="6409944"/>
            <a:ext cx="27432" cy="54864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034332" y="6423660"/>
            <a:ext cx="27432" cy="27432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2829153" y="6272784"/>
            <a:ext cx="632764" cy="329184"/>
          </a:xfrm>
          <a:prstGeom prst="rect">
            <a:avLst/>
          </a:prstGeom>
          <a:noFill/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563977" y="6601968"/>
            <a:ext cx="1225296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00" b="1">
                <a:solidFill>
                  <a:srgbClr val="FF8327"/>
                </a:solidFill>
                <a:latin typeface="나눔스퀘어 네오 OTF Bold"/>
              </a:rPr>
              <a:t>최대 일치 위치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3504" y="6766560"/>
            <a:ext cx="4709159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19" b="0">
                <a:solidFill>
                  <a:srgbClr val="262626"/>
                </a:solidFill>
                <a:latin typeface="나눔스퀘어 네오 OTF Regular"/>
              </a:rPr>
              <a:t>등록한 펄스 전체를 시간 축을 따라 이동하며, 일치도가 가장 높은 위치의 값을 사용합니다.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760720" y="2487168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화면 표시 예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760720" y="2779776"/>
            <a:ext cx="4507992" cy="73152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943600" y="2779776"/>
            <a:ext cx="4142232" cy="7315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950" b="1">
                <a:solidFill>
                  <a:srgbClr val="9BE8B8"/>
                </a:solidFill>
                <a:latin typeface="나눔스퀘어 네오 OTF Bold"/>
              </a:rPr>
              <a:t>주파수 일치도   0.99  ≥  임계 0.90     충족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950" b="1">
                <a:solidFill>
                  <a:srgbClr val="9BE8B8"/>
                </a:solidFill>
                <a:latin typeface="나눔스퀘어 네오 OTF Bold"/>
              </a:rPr>
              <a:t>파형 일치도     0.95  ≥  임계 0.90     충족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A8B4C6"/>
                </a:solidFill>
                <a:latin typeface="나눔스퀘어 네오 OTF Regular"/>
              </a:rPr>
              <a:t>목표 주파수 656 Hz  (등록 파일에서 자동 산출)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760720" y="3621024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확인음을 제외하고 경고음을 검출합니다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760720" y="3913632"/>
            <a:ext cx="4507992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961888" y="4352544"/>
            <a:ext cx="4105656" cy="10972"/>
          </a:xfrm>
          <a:prstGeom prst="rect">
            <a:avLst/>
          </a:prstGeom>
          <a:solidFill>
            <a:srgbClr val="C8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6236207" y="4306824"/>
            <a:ext cx="20116" cy="914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6283756" y="4261104"/>
            <a:ext cx="20116" cy="18288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6331305" y="4283964"/>
            <a:ext cx="20116" cy="13716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6378854" y="4242816"/>
            <a:ext cx="20116" cy="21945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426403" y="4270248"/>
            <a:ext cx="20116" cy="16459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473951" y="4297680"/>
            <a:ext cx="20116" cy="10972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521500" y="4311396"/>
            <a:ext cx="20116" cy="8229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569049" y="4325112"/>
            <a:ext cx="20116" cy="5486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616598" y="4334256"/>
            <a:ext cx="20116" cy="3657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7443216" y="4197096"/>
            <a:ext cx="20116" cy="31089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7490764" y="4151376"/>
            <a:ext cx="20116" cy="40233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538313" y="4178807"/>
            <a:ext cx="20116" cy="347472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585862" y="4142231"/>
            <a:ext cx="20116" cy="42062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633411" y="4169663"/>
            <a:ext cx="20116" cy="36576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680960" y="4206240"/>
            <a:ext cx="20116" cy="292608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728508" y="4233672"/>
            <a:ext cx="20116" cy="23774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776057" y="4261104"/>
            <a:ext cx="20116" cy="18288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823606" y="4288536"/>
            <a:ext cx="20116" cy="12801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71155" y="4311396"/>
            <a:ext cx="20116" cy="8229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406640" y="4059935"/>
            <a:ext cx="12801" cy="585216"/>
          </a:xfrm>
          <a:prstGeom prst="rect">
            <a:avLst/>
          </a:prstGeom>
          <a:solidFill>
            <a:srgbClr val="B8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053327" y="4535424"/>
            <a:ext cx="118872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8C8C8C"/>
                </a:solidFill>
                <a:latin typeface="나눔스퀘어 네오 OTF Bold"/>
              </a:rPr>
              <a:t>Gear_R 확인음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242048" y="4535424"/>
            <a:ext cx="15544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B87400"/>
                </a:solidFill>
                <a:latin typeface="나눔스퀘어 네오 OTF Bold"/>
              </a:rPr>
              <a:t>PDW 경고음 — 검출 대상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943600" y="4626864"/>
            <a:ext cx="4142232" cy="4206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R단 변속 시 확인음이 먼저 울리고, 그 뒤에 PDW 경고음이 발생하는 경우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760720" y="5285232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실차 환경 대응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760720" y="5541264"/>
            <a:ext cx="4507992" cy="1408176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6" name="Rounded Rectangle 165"/>
          <p:cNvSpPr/>
          <p:nvPr/>
        </p:nvSpPr>
        <p:spPr>
          <a:xfrm>
            <a:off x="6007607" y="5670804"/>
            <a:ext cx="54864" cy="100949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7" name="Connector 166"/>
          <p:cNvCxnSpPr/>
          <p:nvPr/>
        </p:nvCxnSpPr>
        <p:spPr>
          <a:xfrm>
            <a:off x="5980175" y="5753100"/>
            <a:ext cx="0" cy="18288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5980175" y="5771388"/>
            <a:ext cx="109728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089903" y="5753100"/>
            <a:ext cx="0" cy="18288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035040" y="5771388"/>
            <a:ext cx="0" cy="4572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5998464" y="5817108"/>
            <a:ext cx="73152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6236207" y="5615940"/>
            <a:ext cx="38496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차량 앰프 출력을 직접 수음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236207" y="5853684"/>
            <a:ext cx="384962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도구는 음원을 출력하지 않고 관측만 수행합니다.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5961888" y="6099048"/>
            <a:ext cx="144840" cy="17337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5" name="Connector 174"/>
          <p:cNvCxnSpPr/>
          <p:nvPr/>
        </p:nvCxnSpPr>
        <p:spPr>
          <a:xfrm>
            <a:off x="5984748" y="6176772"/>
            <a:ext cx="0" cy="36576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6004864" y="6158484"/>
            <a:ext cx="0" cy="7315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6024981" y="6172200"/>
            <a:ext cx="0" cy="4572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6045098" y="6149340"/>
            <a:ext cx="0" cy="9144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065215" y="6167628"/>
            <a:ext cx="0" cy="54864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085331" y="6181344"/>
            <a:ext cx="0" cy="2743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6236207" y="6048756"/>
            <a:ext cx="38496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기대음은 사용자가 등록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236207" y="6286500"/>
            <a:ext cx="384962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차종 · HU · 앰프 조합에 맞는 WAV 를 선택합니다.</a:t>
            </a:r>
          </a:p>
        </p:txBody>
      </p:sp>
      <p:sp>
        <p:nvSpPr>
          <p:cNvPr id="183" name="Oval 182"/>
          <p:cNvSpPr/>
          <p:nvPr/>
        </p:nvSpPr>
        <p:spPr>
          <a:xfrm>
            <a:off x="5948172" y="6563867"/>
            <a:ext cx="100949" cy="100949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6021324" y="6563867"/>
            <a:ext cx="100949" cy="100949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5" name="Connector 184"/>
          <p:cNvCxnSpPr/>
          <p:nvPr/>
        </p:nvCxnSpPr>
        <p:spPr>
          <a:xfrm>
            <a:off x="6035040" y="6696456"/>
            <a:ext cx="0" cy="18288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6236207" y="6481572"/>
            <a:ext cx="38496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잡음 오검출은 이중 판정으로 차단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236207" y="6719315"/>
            <a:ext cx="384962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음색과 파형을 동시에 만족해야 PASS 로 확정합니다.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5. 물리 지연 실측 – 데모 영상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6</a:t>
            </a:fld>
            <a:endParaRPr kumimoji="1" lang="x-none" altLang="en-US" sz="882" dirty="0"/>
          </a:p>
        </p:txBody>
      </p:sp>
      <p:sp>
        <p:nvSpPr>
          <p:cNvPr id="7" name="TextBox 6"/>
          <p:cNvSpPr txBox="1"/>
          <p:nvPr/>
        </p:nvSpPr>
        <p:spPr>
          <a:xfrm>
            <a:off x="420624" y="4192765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영상에서 확인하는 내용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4485373"/>
            <a:ext cx="3099816" cy="1517904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85216" y="4677397"/>
            <a:ext cx="114117" cy="9656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4649965"/>
            <a:ext cx="114117" cy="96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76656" y="4686541"/>
            <a:ext cx="46085" cy="46085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45236" y="4659109"/>
            <a:ext cx="22860" cy="137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5236" y="4723117"/>
            <a:ext cx="22860" cy="137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8096" y="4659109"/>
            <a:ext cx="0" cy="77724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536" y="4576813"/>
            <a:ext cx="251460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① 촬영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869421"/>
            <a:ext cx="2807208" cy="106070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원본 플레이어 · CH1 · CH2 세 화면을 한 모니터에 고정하고 화면 전체를 녹화합니다.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4485373"/>
            <a:ext cx="3099816" cy="1517904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973068" y="4645393"/>
            <a:ext cx="155813" cy="155813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018788" y="4691113"/>
            <a:ext cx="63642" cy="63642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043476" y="4715801"/>
            <a:ext cx="15361" cy="15361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33672" y="4576813"/>
            <a:ext cx="251460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② 기준점(T0) 확정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1064" y="4869421"/>
            <a:ext cx="2807208" cy="106070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원본에서 슬레이트가 닫히는 프레임을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기준점으로 확정합니다.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이 시점이 자극 발생 시각입니다.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68896" y="4485373"/>
            <a:ext cx="3099816" cy="1517904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33488" y="4649965"/>
            <a:ext cx="92171" cy="92171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24927" y="4649965"/>
            <a:ext cx="92171" cy="92171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7379208" y="4768837"/>
            <a:ext cx="9144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79208" y="4796269"/>
            <a:ext cx="9144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397496" y="4672825"/>
            <a:ext cx="54864" cy="5486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488936" y="4672825"/>
            <a:ext cx="54864" cy="5486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07808" y="4576813"/>
            <a:ext cx="251460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③ 채널별 지연 산출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869421"/>
            <a:ext cx="2807208" cy="106070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CH1 · CH2 에 같은 장면이 나타나는 프레임을 찾아 기준점과의 차이를 채널별 물리 지연으로 산출합니다.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" y="6222733"/>
            <a:ext cx="9848088" cy="603504"/>
          </a:xfrm>
          <a:prstGeom prst="roundRect">
            <a:avLst>
              <a:gd name="adj" fmla="val 6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0624" y="6423335"/>
            <a:ext cx="9848088" cy="202299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측정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결과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 — 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비전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CH1 + </a:t>
            </a:r>
            <a:r>
              <a:rPr lang="en-US" sz="1100" b="1" dirty="0">
                <a:solidFill>
                  <a:srgbClr val="002878"/>
                </a:solidFill>
                <a:latin typeface="나눔스퀘어 네오 OTF Bold"/>
              </a:rPr>
              <a:t>33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ms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·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비전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CH2 + </a:t>
            </a:r>
            <a:r>
              <a:rPr lang="en-US" sz="1100" b="1" dirty="0">
                <a:solidFill>
                  <a:srgbClr val="002878"/>
                </a:solidFill>
                <a:latin typeface="나눔스퀘어 네오 OTF Bold"/>
              </a:rPr>
              <a:t>33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ms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·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음향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+ </a:t>
            </a:r>
            <a:r>
              <a:rPr lang="en-US" sz="1100" b="1" dirty="0">
                <a:solidFill>
                  <a:srgbClr val="002878"/>
                </a:solidFill>
                <a:latin typeface="나눔스퀘어 네오 OTF Bold"/>
              </a:rPr>
              <a:t>16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ms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 (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다음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장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상세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" y="6954253"/>
            <a:ext cx="9848088" cy="21945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나눔스퀘어 네오 OTF Regular"/>
              </a:rPr>
              <a:t>촬영 : 1920 × 1080 · 30 fps · 10 초 · OBS 로 세 화면 · 오디오 믹서 동시 녹화</a:t>
            </a:r>
          </a:p>
        </p:txBody>
      </p:sp>
      <p:pic>
        <p:nvPicPr>
          <p:cNvPr id="4" name="DEMO-FINAL#4">
            <a:hlinkClick r:id="" action="ppaction://media"/>
            <a:extLst>
              <a:ext uri="{FF2B5EF4-FFF2-40B4-BE49-F238E27FC236}">
                <a16:creationId xmlns:a16="http://schemas.microsoft.com/office/drawing/2014/main" id="{9E290F65-D2DB-4AD2-8CA6-B5437865483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5859" y="658478"/>
            <a:ext cx="9404845" cy="3486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5. 물리 지연 실측 – 30 ms 동기의 근거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7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APX 를 빼고 카메라 · 마이크 경로만 재서, 채널별 물리 지연 상수를 실측했습니다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152144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측정 방법 — 도구 판정을 배제하고 경로만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도구 자동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9473184" y="1202436"/>
            <a:ext cx="118872" cy="118872"/>
          </a:xfrm>
          <a:prstGeom prst="rect">
            <a:avLst/>
          </a:prstGeom>
          <a:solidFill>
            <a:srgbClr val="F4F5FA"/>
          </a:solidFill>
          <a:ln w="1143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사용자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7072" y="1202436"/>
            <a:ext cx="118872" cy="118872"/>
          </a:xfrm>
          <a:prstGeom prst="rect">
            <a:avLst/>
          </a:prstGeom>
          <a:solidFill>
            <a:srgbClr val="FFF9E1"/>
          </a:solidFill>
          <a:ln w="1143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624" y="1444752"/>
            <a:ext cx="222885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4561" y="1569148"/>
            <a:ext cx="180594" cy="180594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sosceles Triangle 13"/>
          <p:cNvSpPr/>
          <p:nvPr/>
        </p:nvSpPr>
        <p:spPr>
          <a:xfrm rot="5400000">
            <a:off x="1506474" y="1621536"/>
            <a:ext cx="66294" cy="75438"/>
          </a:xfrm>
          <a:prstGeom prst="triangle">
            <a:avLst/>
          </a:prstGeom>
          <a:solidFill>
            <a:srgbClr val="B8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" y="1810512"/>
            <a:ext cx="222885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자극 원본 재생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2203704"/>
            <a:ext cx="222885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슬레이트 영상 · 음원을
1회 재생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2704338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60370" y="1444752"/>
            <a:ext cx="222885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979544" y="1612011"/>
            <a:ext cx="118872" cy="100584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036694" y="1583436"/>
            <a:ext cx="118872" cy="1005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074795" y="1621536"/>
            <a:ext cx="48006" cy="48006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4146232" y="1592961"/>
            <a:ext cx="23813" cy="14287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146232" y="1659636"/>
            <a:ext cx="23813" cy="14287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70045" y="1592961"/>
            <a:ext cx="0" cy="80962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60370" y="1810512"/>
            <a:ext cx="222885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웹캠 · 마이크 수음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60370" y="2203704"/>
            <a:ext cx="222885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CH1 · CH2 · 마이크가
동일 시점을 관측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5244083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00116" y="1444752"/>
            <a:ext cx="222885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6528816" y="1612011"/>
            <a:ext cx="0" cy="13335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28816" y="1745361"/>
            <a:ext cx="133349" cy="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66916" y="1573911"/>
            <a:ext cx="133350" cy="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00266" y="1573911"/>
            <a:ext cx="0" cy="13335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566916" y="1612011"/>
            <a:ext cx="96012" cy="96012"/>
          </a:xfrm>
          <a:prstGeom prst="rect">
            <a:avLst/>
          </a:prstGeom>
          <a:noFill/>
          <a:ln w="1270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00116" y="1810512"/>
            <a:ext cx="222885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첫 등장 프레임 탐색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0116" y="2203704"/>
            <a:ext cx="2228850" cy="29251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캡처를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1</a:t>
            </a:r>
            <a:r>
              <a:rPr lang="en-US" sz="800" b="0" dirty="0">
                <a:solidFill>
                  <a:srgbClr val="595959"/>
                </a:solidFill>
                <a:latin typeface="나눔스퀘어 네오 OTF Regular"/>
              </a:rPr>
              <a:t>6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ms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단위로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이동하며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
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최초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표출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프레임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확인</a:t>
            </a:r>
            <a:endParaRPr sz="800" b="0" dirty="0">
              <a:solidFill>
                <a:srgbClr val="595959"/>
              </a:solidFill>
              <a:latin typeface="나눔스퀘어 네오 OTF Regular"/>
            </a:endParaRPr>
          </a:p>
        </p:txBody>
      </p:sp>
      <p:sp>
        <p:nvSpPr>
          <p:cNvPr id="36" name="Isosceles Triangle 35"/>
          <p:cNvSpPr/>
          <p:nvPr/>
        </p:nvSpPr>
        <p:spPr>
          <a:xfrm rot="5400000">
            <a:off x="7783830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39862" y="1444752"/>
            <a:ext cx="222885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059037" y="1583436"/>
            <a:ext cx="96012" cy="96012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154287" y="1583436"/>
            <a:ext cx="96012" cy="96012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9106662" y="1707261"/>
            <a:ext cx="9525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06662" y="1735836"/>
            <a:ext cx="9525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125712" y="1607248"/>
            <a:ext cx="57150" cy="5715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220962" y="1607248"/>
            <a:ext cx="57150" cy="5715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39862" y="1810512"/>
            <a:ext cx="222885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채널별 상수 산출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9862" y="2203704"/>
            <a:ext cx="222885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관측 시각 − 원본 시각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" y="2688336"/>
            <a:ext cx="507492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측정 결과 (2차 측정)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" y="2980944"/>
            <a:ext cx="2029968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0624" y="2980944"/>
            <a:ext cx="2029968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채널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50592" y="2980944"/>
            <a:ext cx="964234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50592" y="2980944"/>
            <a:ext cx="964234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원본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14826" y="2980944"/>
            <a:ext cx="964234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14826" y="2980944"/>
            <a:ext cx="964234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관측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79061" y="2980944"/>
            <a:ext cx="1116482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79061" y="2980944"/>
            <a:ext cx="111648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물리 지연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3255263"/>
            <a:ext cx="20299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0624" y="3255263"/>
            <a:ext cx="2029968" cy="42062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나눔스퀘어 네오 OTF Bold"/>
              </a:rPr>
              <a:t>비전 CH1 (클러스터)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50592" y="3255263"/>
            <a:ext cx="96423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50592" y="3376928"/>
            <a:ext cx="964234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0" dirty="0">
                <a:solidFill>
                  <a:srgbClr val="262626"/>
                </a:solidFill>
                <a:latin typeface="나눔스퀘어 네오 OTF Regular"/>
              </a:rPr>
              <a:t>1</a:t>
            </a:r>
            <a:r>
              <a:rPr lang="en-US" sz="950" b="0" dirty="0">
                <a:solidFill>
                  <a:srgbClr val="262626"/>
                </a:solidFill>
                <a:latin typeface="나눔스퀘어 네오 OTF Regular"/>
              </a:rPr>
              <a:t>5</a:t>
            </a:r>
            <a:r>
              <a:rPr sz="950" b="0" dirty="0">
                <a:solidFill>
                  <a:srgbClr val="262626"/>
                </a:solidFill>
                <a:latin typeface="나눔스퀘어 네오 OTF Regular"/>
              </a:rPr>
              <a:t>.</a:t>
            </a:r>
            <a:r>
              <a:rPr lang="en-US" sz="950" dirty="0">
                <a:solidFill>
                  <a:srgbClr val="262626"/>
                </a:solidFill>
                <a:latin typeface="나눔스퀘어 네오 OTF Regular"/>
              </a:rPr>
              <a:t>890</a:t>
            </a:r>
            <a:r>
              <a:rPr sz="950" b="0" dirty="0">
                <a:solidFill>
                  <a:srgbClr val="262626"/>
                </a:solidFill>
                <a:latin typeface="나눔스퀘어 네오 OTF Regular"/>
              </a:rPr>
              <a:t> 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14826" y="3255263"/>
            <a:ext cx="96423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14826" y="3376928"/>
            <a:ext cx="964234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altLang="ko-KR" sz="950" b="0" dirty="0">
                <a:solidFill>
                  <a:srgbClr val="262626"/>
                </a:solidFill>
                <a:latin typeface="나눔스퀘어 네오 OTF Regular"/>
              </a:rPr>
              <a:t>15.923 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79061" y="3255263"/>
            <a:ext cx="111648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79061" y="3376928"/>
            <a:ext cx="1116482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0" dirty="0">
                <a:solidFill>
                  <a:srgbClr val="3E8853"/>
                </a:solidFill>
                <a:latin typeface="나눔스퀘어 네오 OTF Regular"/>
              </a:rPr>
              <a:t>+ </a:t>
            </a:r>
            <a:r>
              <a:rPr lang="en-US" sz="950" dirty="0">
                <a:solidFill>
                  <a:srgbClr val="3E8853"/>
                </a:solidFill>
                <a:latin typeface="나눔스퀘어 네오 OTF Regular"/>
              </a:rPr>
              <a:t>33</a:t>
            </a:r>
            <a:r>
              <a:rPr sz="950" b="0" dirty="0">
                <a:solidFill>
                  <a:srgbClr val="3E8853"/>
                </a:solidFill>
                <a:latin typeface="나눔스퀘어 네오 OTF Regular"/>
              </a:rPr>
              <a:t> </a:t>
            </a:r>
            <a:r>
              <a:rPr sz="950" b="0" dirty="0" err="1">
                <a:solidFill>
                  <a:srgbClr val="3E8853"/>
                </a:solidFill>
                <a:latin typeface="나눔스퀘어 네오 OTF Regular"/>
              </a:rPr>
              <a:t>ms</a:t>
            </a:r>
            <a:endParaRPr sz="950" b="0" dirty="0">
              <a:solidFill>
                <a:srgbClr val="3E8853"/>
              </a:solidFill>
              <a:latin typeface="나눔스퀘어 네오 OTF Regula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20624" y="3675887"/>
            <a:ext cx="20299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0624" y="3675887"/>
            <a:ext cx="2029968" cy="42062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나눔스퀘어 네오 OTF Bold"/>
              </a:rPr>
              <a:t>비전 CH2 (기어봉)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50592" y="3675887"/>
            <a:ext cx="96423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450592" y="3797552"/>
            <a:ext cx="964234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lang="en-US" altLang="ko-KR" sz="950" b="0" dirty="0">
                <a:solidFill>
                  <a:srgbClr val="262626"/>
                </a:solidFill>
                <a:latin typeface="나눔스퀘어 네오 OTF Regular"/>
              </a:rPr>
              <a:t>15.890</a:t>
            </a:r>
            <a:r>
              <a:rPr sz="950" b="0" dirty="0">
                <a:solidFill>
                  <a:srgbClr val="262626"/>
                </a:solidFill>
                <a:latin typeface="나눔스퀘어 네오 OTF Regular"/>
              </a:rPr>
              <a:t> 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14826" y="3675887"/>
            <a:ext cx="96423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414826" y="3797552"/>
            <a:ext cx="964234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altLang="ko-KR" sz="950" b="0" dirty="0">
                <a:solidFill>
                  <a:srgbClr val="262626"/>
                </a:solidFill>
                <a:latin typeface="나눔스퀘어 네오 OTF Regular"/>
              </a:rPr>
              <a:t>15.923 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79061" y="3675887"/>
            <a:ext cx="111648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79061" y="3797552"/>
            <a:ext cx="1116482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0" dirty="0">
                <a:solidFill>
                  <a:srgbClr val="3E8853"/>
                </a:solidFill>
                <a:latin typeface="나눔스퀘어 네오 OTF Regular"/>
              </a:rPr>
              <a:t>+ </a:t>
            </a:r>
            <a:r>
              <a:rPr lang="en-US" sz="950" dirty="0">
                <a:solidFill>
                  <a:srgbClr val="3E8853"/>
                </a:solidFill>
                <a:latin typeface="나눔스퀘어 네오 OTF Regular"/>
              </a:rPr>
              <a:t>33</a:t>
            </a:r>
            <a:r>
              <a:rPr sz="950" b="0" dirty="0">
                <a:solidFill>
                  <a:srgbClr val="3E8853"/>
                </a:solidFill>
                <a:latin typeface="나눔스퀘어 네오 OTF Regular"/>
              </a:rPr>
              <a:t> </a:t>
            </a:r>
            <a:r>
              <a:rPr sz="950" b="0" dirty="0" err="1">
                <a:solidFill>
                  <a:srgbClr val="3E8853"/>
                </a:solidFill>
                <a:latin typeface="나눔스퀘어 네오 OTF Regular"/>
              </a:rPr>
              <a:t>ms</a:t>
            </a:r>
            <a:endParaRPr sz="950" b="0" dirty="0">
              <a:solidFill>
                <a:srgbClr val="3E8853"/>
              </a:solidFill>
              <a:latin typeface="나눔스퀘어 네오 OTF Regular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20624" y="4096511"/>
            <a:ext cx="20299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20624" y="4096511"/>
            <a:ext cx="2029968" cy="42062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나눔스퀘어 네오 OTF Bold"/>
              </a:rPr>
              <a:t>음향 (마이크)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50592" y="4096511"/>
            <a:ext cx="96423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450592" y="4218176"/>
            <a:ext cx="964234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lang="en-US" altLang="ko-KR" sz="950" b="0" dirty="0">
                <a:solidFill>
                  <a:srgbClr val="262626"/>
                </a:solidFill>
                <a:latin typeface="나눔스퀘어 네오 OTF Regular"/>
              </a:rPr>
              <a:t>15.923</a:t>
            </a:r>
            <a:r>
              <a:rPr sz="950" b="0" dirty="0">
                <a:solidFill>
                  <a:srgbClr val="262626"/>
                </a:solidFill>
                <a:latin typeface="나눔스퀘어 네오 OTF Regular"/>
              </a:rPr>
              <a:t> 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14826" y="4096511"/>
            <a:ext cx="96423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414826" y="4218176"/>
            <a:ext cx="964234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lang="en-US" altLang="ko-KR" sz="950" b="0" dirty="0">
                <a:solidFill>
                  <a:srgbClr val="262626"/>
                </a:solidFill>
                <a:latin typeface="나눔스퀘어 네오 OTF Regular"/>
              </a:rPr>
              <a:t>15.939</a:t>
            </a:r>
            <a:r>
              <a:rPr sz="950" b="0" dirty="0">
                <a:solidFill>
                  <a:srgbClr val="262626"/>
                </a:solidFill>
                <a:latin typeface="나눔스퀘어 네오 OTF Regular"/>
              </a:rPr>
              <a:t> 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79061" y="4096511"/>
            <a:ext cx="111648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379061" y="4218176"/>
            <a:ext cx="1116482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0" dirty="0">
                <a:solidFill>
                  <a:srgbClr val="3E8853"/>
                </a:solidFill>
                <a:latin typeface="나눔스퀘어 네오 OTF Regular"/>
              </a:rPr>
              <a:t>+ </a:t>
            </a:r>
            <a:r>
              <a:rPr lang="en-US" sz="950" dirty="0">
                <a:solidFill>
                  <a:srgbClr val="3E8853"/>
                </a:solidFill>
                <a:latin typeface="나눔스퀘어 네오 OTF Regular"/>
              </a:rPr>
              <a:t>16</a:t>
            </a:r>
            <a:r>
              <a:rPr sz="950" b="0" dirty="0">
                <a:solidFill>
                  <a:srgbClr val="3E8853"/>
                </a:solidFill>
                <a:latin typeface="나눔스퀘어 네오 OTF Regular"/>
              </a:rPr>
              <a:t> </a:t>
            </a:r>
            <a:r>
              <a:rPr sz="950" b="0" dirty="0" err="1">
                <a:solidFill>
                  <a:srgbClr val="3E8853"/>
                </a:solidFill>
                <a:latin typeface="나눔스퀘어 네오 OTF Regular"/>
              </a:rPr>
              <a:t>ms</a:t>
            </a:r>
            <a:endParaRPr sz="950" b="0" dirty="0">
              <a:solidFill>
                <a:srgbClr val="3E8853"/>
              </a:solidFill>
              <a:latin typeface="나눔스퀘어 네오 OTF Regular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420624" y="4846320"/>
            <a:ext cx="5074920" cy="1554480"/>
          </a:xfrm>
          <a:prstGeom prst="roundRect">
            <a:avLst>
              <a:gd name="adj" fmla="val 6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66928" y="5099281"/>
            <a:ext cx="4782312" cy="1048557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400"/>
              </a:spcAft>
            </a:pPr>
            <a:r>
              <a:rPr sz="1400" b="1" dirty="0" err="1">
                <a:solidFill>
                  <a:srgbClr val="002878"/>
                </a:solidFill>
                <a:latin typeface="나눔스퀘어 네오 OTF Bold"/>
              </a:rPr>
              <a:t>채널별</a:t>
            </a:r>
            <a:r>
              <a:rPr sz="1400" b="1" dirty="0">
                <a:solidFill>
                  <a:srgbClr val="002878"/>
                </a:solidFill>
                <a:latin typeface="나눔스퀘어 네오 OTF Bold"/>
              </a:rPr>
              <a:t> </a:t>
            </a:r>
            <a:r>
              <a:rPr sz="1400" b="1" dirty="0" err="1">
                <a:solidFill>
                  <a:srgbClr val="002878"/>
                </a:solidFill>
                <a:latin typeface="나눔스퀘어 네오 OTF Bold"/>
              </a:rPr>
              <a:t>물리</a:t>
            </a:r>
            <a:r>
              <a:rPr sz="1400" b="1" dirty="0">
                <a:solidFill>
                  <a:srgbClr val="002878"/>
                </a:solidFill>
                <a:latin typeface="나눔스퀘어 네오 OTF Bold"/>
              </a:rPr>
              <a:t> </a:t>
            </a:r>
            <a:r>
              <a:rPr sz="1400" b="1" dirty="0" err="1">
                <a:solidFill>
                  <a:srgbClr val="002878"/>
                </a:solidFill>
                <a:latin typeface="나눔스퀘어 네오 OTF Bold"/>
              </a:rPr>
              <a:t>지연</a:t>
            </a:r>
            <a:r>
              <a:rPr sz="1400" b="1" dirty="0">
                <a:solidFill>
                  <a:srgbClr val="002878"/>
                </a:solidFill>
                <a:latin typeface="나눔스퀘어 네오 OTF Bold"/>
              </a:rPr>
              <a:t> ≈</a:t>
            </a:r>
            <a:r>
              <a:rPr lang="en-US" sz="1400" b="1" dirty="0">
                <a:solidFill>
                  <a:srgbClr val="002878"/>
                </a:solidFill>
                <a:latin typeface="나눔스퀘어 네오 OTF Bold"/>
              </a:rPr>
              <a:t> </a:t>
            </a:r>
            <a:r>
              <a:rPr lang="ko-KR" altLang="en-US" sz="1400" b="1" dirty="0">
                <a:solidFill>
                  <a:srgbClr val="002878"/>
                </a:solidFill>
                <a:latin typeface="나눔스퀘어 네오 OTF Bold"/>
              </a:rPr>
              <a:t>비전 </a:t>
            </a:r>
            <a:r>
              <a:rPr lang="en-US" altLang="ko-KR" sz="1400" b="1" dirty="0">
                <a:solidFill>
                  <a:srgbClr val="002878"/>
                </a:solidFill>
                <a:latin typeface="나눔스퀘어 네오 OTF Bold"/>
              </a:rPr>
              <a:t>+33 </a:t>
            </a:r>
            <a:r>
              <a:rPr lang="en-US" altLang="ko-KR" sz="1400" b="1" dirty="0" err="1">
                <a:solidFill>
                  <a:srgbClr val="002878"/>
                </a:solidFill>
                <a:latin typeface="나눔스퀘어 네오 OTF Bold"/>
              </a:rPr>
              <a:t>ms</a:t>
            </a:r>
            <a:r>
              <a:rPr lang="en-US" altLang="ko-KR" sz="1400" b="1" dirty="0">
                <a:solidFill>
                  <a:srgbClr val="002878"/>
                </a:solidFill>
                <a:latin typeface="나눔스퀘어 네오 OTF Bold"/>
              </a:rPr>
              <a:t>, </a:t>
            </a:r>
            <a:r>
              <a:rPr lang="ko-KR" altLang="en-US" sz="1400" b="1" dirty="0">
                <a:solidFill>
                  <a:srgbClr val="002878"/>
                </a:solidFill>
                <a:latin typeface="나눔스퀘어 네오 OTF Bold"/>
              </a:rPr>
              <a:t>음향 </a:t>
            </a:r>
            <a:r>
              <a:rPr lang="en-US" altLang="ko-KR" sz="1400" b="1" dirty="0">
                <a:solidFill>
                  <a:srgbClr val="002878"/>
                </a:solidFill>
                <a:latin typeface="나눔스퀘어 네오 OTF Bold"/>
              </a:rPr>
              <a:t>+16 </a:t>
            </a:r>
            <a:r>
              <a:rPr lang="en-US" altLang="ko-KR" sz="1400" b="1" dirty="0" err="1">
                <a:solidFill>
                  <a:srgbClr val="002878"/>
                </a:solidFill>
                <a:latin typeface="나눔스퀘어 네오 OTF Bold"/>
              </a:rPr>
              <a:t>ms</a:t>
            </a:r>
            <a:endParaRPr sz="1400" b="1" dirty="0">
              <a:solidFill>
                <a:srgbClr val="002878"/>
              </a:solidFill>
              <a:latin typeface="나눔스퀘어 네오 OTF Bold"/>
            </a:endParaRPr>
          </a:p>
          <a:p>
            <a:pPr algn="ctr">
              <a:lnSpc>
                <a:spcPct val="114000"/>
              </a:lnSpc>
              <a:spcAft>
                <a:spcPts val="800"/>
              </a:spcAft>
            </a:pPr>
            <a:r>
              <a:rPr sz="1400" b="1" dirty="0" err="1">
                <a:solidFill>
                  <a:srgbClr val="002878"/>
                </a:solidFill>
                <a:latin typeface="나눔스퀘어 네오 OTF Bold"/>
              </a:rPr>
              <a:t>채널</a:t>
            </a:r>
            <a:r>
              <a:rPr sz="1400" b="1" dirty="0">
                <a:solidFill>
                  <a:srgbClr val="002878"/>
                </a:solidFill>
                <a:latin typeface="나눔스퀘어 네오 OTF Bold"/>
              </a:rPr>
              <a:t> 간 </a:t>
            </a:r>
            <a:r>
              <a:rPr sz="1400" b="1" dirty="0" err="1">
                <a:solidFill>
                  <a:srgbClr val="002878"/>
                </a:solidFill>
                <a:latin typeface="나눔스퀘어 네오 OTF Bold"/>
              </a:rPr>
              <a:t>편차</a:t>
            </a:r>
            <a:r>
              <a:rPr sz="1400" b="1" dirty="0">
                <a:solidFill>
                  <a:srgbClr val="002878"/>
                </a:solidFill>
                <a:latin typeface="나눔스퀘어 네오 OTF Bold"/>
              </a:rPr>
              <a:t> ≈ </a:t>
            </a:r>
            <a:r>
              <a:rPr lang="ko-KR" altLang="en-US" sz="1400" b="1" dirty="0">
                <a:solidFill>
                  <a:srgbClr val="002878"/>
                </a:solidFill>
                <a:latin typeface="나눔스퀘어 네오 OTF Bold"/>
              </a:rPr>
              <a:t>비전 간 </a:t>
            </a:r>
            <a:r>
              <a:rPr lang="en-US" altLang="ko-KR" sz="1400" b="1" dirty="0">
                <a:solidFill>
                  <a:srgbClr val="002878"/>
                </a:solidFill>
                <a:latin typeface="나눔스퀘어 네오 OTF Bold"/>
              </a:rPr>
              <a:t>0ms,</a:t>
            </a:r>
            <a:r>
              <a:rPr lang="ko-KR" altLang="en-US" sz="1400" b="1" dirty="0">
                <a:solidFill>
                  <a:srgbClr val="002878"/>
                </a:solidFill>
                <a:latin typeface="나눔스퀘어 네오 OTF Bold"/>
              </a:rPr>
              <a:t> 비전 </a:t>
            </a:r>
            <a:r>
              <a:rPr lang="en-US" altLang="ko-KR" sz="1400" b="1" dirty="0">
                <a:solidFill>
                  <a:srgbClr val="002878"/>
                </a:solidFill>
                <a:latin typeface="나눔스퀘어 네오 OTF Bold"/>
              </a:rPr>
              <a:t>- </a:t>
            </a:r>
            <a:r>
              <a:rPr lang="ko-KR" altLang="en-US" sz="1400" b="1" dirty="0">
                <a:solidFill>
                  <a:srgbClr val="002878"/>
                </a:solidFill>
                <a:latin typeface="나눔스퀘어 네오 OTF Bold"/>
              </a:rPr>
              <a:t>음향 </a:t>
            </a:r>
            <a:r>
              <a:rPr lang="en-US" altLang="ko-KR" sz="1400" b="1" dirty="0">
                <a:solidFill>
                  <a:srgbClr val="002878"/>
                </a:solidFill>
                <a:latin typeface="나눔스퀘어 네오 OTF Bold"/>
              </a:rPr>
              <a:t>16ms</a:t>
            </a:r>
            <a:endParaRPr sz="1400" b="1" dirty="0">
              <a:solidFill>
                <a:srgbClr val="002878"/>
              </a:solidFill>
              <a:latin typeface="나눔스퀘어 네오 OTF Bold"/>
            </a:endParaRPr>
          </a:p>
          <a:p>
            <a:pPr algn="ctr">
              <a:lnSpc>
                <a:spcPct val="114000"/>
              </a:lnSpc>
              <a:spcAft>
                <a:spcPts val="400"/>
              </a:spcAft>
            </a:pPr>
            <a:r>
              <a:rPr lang="ko-KR" altLang="en-US" sz="950" dirty="0">
                <a:solidFill>
                  <a:srgbClr val="262626"/>
                </a:solidFill>
                <a:latin typeface="나눔스퀘어 네오 OTF Regular"/>
              </a:rPr>
              <a:t>관측된 비전 </a:t>
            </a:r>
            <a:r>
              <a:rPr lang="en-US" altLang="ko-KR" sz="950" dirty="0">
                <a:solidFill>
                  <a:srgbClr val="262626"/>
                </a:solidFill>
                <a:latin typeface="나눔스퀘어 네오 OTF Regular"/>
              </a:rPr>
              <a:t>– </a:t>
            </a:r>
            <a:r>
              <a:rPr lang="ko-KR" altLang="en-US" sz="950" dirty="0">
                <a:solidFill>
                  <a:srgbClr val="262626"/>
                </a:solidFill>
                <a:latin typeface="나눔스퀘어 네오 OTF Regular"/>
              </a:rPr>
              <a:t>음향 차이 </a:t>
            </a:r>
            <a:r>
              <a:rPr lang="en-US" altLang="ko-KR" sz="950" dirty="0">
                <a:solidFill>
                  <a:srgbClr val="262626"/>
                </a:solidFill>
                <a:latin typeface="나눔스퀘어 네오 OTF Regular"/>
              </a:rPr>
              <a:t>16ms  </a:t>
            </a:r>
            <a:r>
              <a:rPr lang="en-US" altLang="ko-KR" sz="950" dirty="0"/>
              <a:t>≤ 30 </a:t>
            </a:r>
            <a:r>
              <a:rPr lang="en-US" altLang="ko-KR" sz="950" dirty="0" err="1"/>
              <a:t>ms</a:t>
            </a:r>
            <a:r>
              <a:rPr lang="ko-KR" altLang="en-US" sz="950" dirty="0">
                <a:solidFill>
                  <a:srgbClr val="262626"/>
                </a:solidFill>
                <a:latin typeface="나눔스퀘어 네오 OTF Regular"/>
              </a:rPr>
              <a:t> 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lang="ko-KR" altLang="en-US" sz="1000" b="1" dirty="0">
                <a:solidFill>
                  <a:srgbClr val="3E8853"/>
                </a:solidFill>
                <a:latin typeface="나눔스퀘어 네오 OTF Bold"/>
              </a:rPr>
              <a:t>관측된 입력 프레임을 그대로 사용합니다 </a:t>
            </a:r>
            <a:r>
              <a:rPr lang="en-US" altLang="ko-KR" sz="1000" b="1" dirty="0">
                <a:solidFill>
                  <a:srgbClr val="3E8853"/>
                </a:solidFill>
                <a:latin typeface="나눔스퀘어 네오 OTF Bold"/>
              </a:rPr>
              <a:t>— </a:t>
            </a:r>
            <a:r>
              <a:rPr lang="ko-KR" altLang="en-US" sz="1000" b="1" dirty="0">
                <a:solidFill>
                  <a:srgbClr val="3E8853"/>
                </a:solidFill>
                <a:latin typeface="나눔스퀘어 네오 OTF Bold"/>
              </a:rPr>
              <a:t>별도 보정 없음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0720" y="2688336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측정 장비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60720" y="2980944"/>
            <a:ext cx="1081918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760720" y="2980944"/>
            <a:ext cx="1081918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구분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42638" y="2980944"/>
            <a:ext cx="3426073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842638" y="2980944"/>
            <a:ext cx="3426073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사양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760720" y="3255263"/>
            <a:ext cx="108191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760720" y="3255263"/>
            <a:ext cx="1081918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웹캠 (현재)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2638" y="3255263"/>
            <a:ext cx="3426073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842638" y="3255263"/>
            <a:ext cx="3426073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STCOM biz FHD60F · 1920×1080 · 고정 초점
최대 60 fps (주기 16.7 ms) · 화각 95.8° · USB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60720" y="3657599"/>
            <a:ext cx="108191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760720" y="3657599"/>
            <a:ext cx="1081918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웹캠 (이전)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42638" y="3657599"/>
            <a:ext cx="3426073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842638" y="3657599"/>
            <a:ext cx="3426073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Logitech C930e · 최대 30 fps (주기 33.3 ms)
관측 분해능 확보를 위해 교체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60720" y="4059935"/>
            <a:ext cx="108191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760720" y="4059935"/>
            <a:ext cx="1081918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마이크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842638" y="4059935"/>
            <a:ext cx="3426073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842638" y="4059935"/>
            <a:ext cx="3426073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FHD60F 내장 (CH2) · 2ch · 16bit · 48 kHz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60720" y="4462272"/>
            <a:ext cx="108191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760720" y="4462272"/>
            <a:ext cx="1081918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스피커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842638" y="4462272"/>
            <a:ext cx="3426073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842638" y="4462272"/>
            <a:ext cx="3426073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Jabra USB — 자극 재생용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760720" y="4992624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30 ms 목표에 주는 의미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760720" y="5285232"/>
            <a:ext cx="4507992" cy="1664208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5948172" y="5465064"/>
            <a:ext cx="173370" cy="17337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6003036" y="5519928"/>
            <a:ext cx="63642" cy="63642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36207" y="5414772"/>
            <a:ext cx="38496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프레임 주기 16.7 ms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36207" y="5652516"/>
            <a:ext cx="384962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60 fps </a:t>
            </a:r>
            <a:r>
              <a:rPr sz="850" b="0" dirty="0" err="1">
                <a:solidFill>
                  <a:srgbClr val="262626"/>
                </a:solidFill>
                <a:latin typeface="나눔스퀘어 네오 OTF Regular"/>
              </a:rPr>
              <a:t>웹캠으로</a:t>
            </a: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 </a:t>
            </a:r>
            <a:r>
              <a:rPr sz="850" b="0" dirty="0" err="1">
                <a:solidFill>
                  <a:srgbClr val="262626"/>
                </a:solidFill>
                <a:latin typeface="나눔스퀘어 네오 OTF Regular"/>
              </a:rPr>
              <a:t>관측</a:t>
            </a: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 </a:t>
            </a:r>
            <a:r>
              <a:rPr sz="850" b="0" dirty="0" err="1">
                <a:solidFill>
                  <a:srgbClr val="262626"/>
                </a:solidFill>
                <a:latin typeface="나눔스퀘어 네오 OTF Regular"/>
              </a:rPr>
              <a:t>분해능이</a:t>
            </a: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 30 </a:t>
            </a:r>
            <a:r>
              <a:rPr sz="850" b="0" dirty="0" err="1">
                <a:solidFill>
                  <a:srgbClr val="262626"/>
                </a:solidFill>
                <a:latin typeface="나눔스퀘어 네오 OTF Regular"/>
              </a:rPr>
              <a:t>ms</a:t>
            </a: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 </a:t>
            </a:r>
            <a:r>
              <a:rPr sz="850" b="0" dirty="0" err="1">
                <a:solidFill>
                  <a:srgbClr val="262626"/>
                </a:solidFill>
                <a:latin typeface="나눔스퀘어 네오 OTF Regular"/>
              </a:rPr>
              <a:t>목표보다</a:t>
            </a: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 </a:t>
            </a:r>
            <a:r>
              <a:rPr sz="850" b="0" dirty="0" err="1">
                <a:solidFill>
                  <a:srgbClr val="262626"/>
                </a:solidFill>
                <a:latin typeface="나눔스퀘어 네오 OTF Regular"/>
              </a:rPr>
              <a:t>세밀합니다</a:t>
            </a: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.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948172" y="6003036"/>
            <a:ext cx="173735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5976518" y="5990234"/>
            <a:ext cx="25237" cy="25237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0" name="Connector 109"/>
          <p:cNvCxnSpPr/>
          <p:nvPr/>
        </p:nvCxnSpPr>
        <p:spPr>
          <a:xfrm>
            <a:off x="5948172" y="6057900"/>
            <a:ext cx="173735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6031382" y="6045098"/>
            <a:ext cx="25237" cy="25237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2" name="Connector 111"/>
          <p:cNvCxnSpPr/>
          <p:nvPr/>
        </p:nvCxnSpPr>
        <p:spPr>
          <a:xfrm>
            <a:off x="5948172" y="6112764"/>
            <a:ext cx="173735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6067958" y="6099962"/>
            <a:ext cx="25237" cy="25237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236207" y="5920740"/>
            <a:ext cx="3849624" cy="174535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 dirty="0" err="1">
                <a:solidFill>
                  <a:srgbClr val="002878"/>
                </a:solidFill>
                <a:latin typeface="나눔스퀘어 네오 OTF Bold"/>
              </a:rPr>
              <a:t>채널</a:t>
            </a:r>
            <a:r>
              <a:rPr sz="950" b="1" dirty="0">
                <a:solidFill>
                  <a:srgbClr val="002878"/>
                </a:solidFill>
                <a:latin typeface="나눔스퀘어 네오 OTF Bold"/>
              </a:rPr>
              <a:t> 간 </a:t>
            </a:r>
            <a:r>
              <a:rPr sz="950" b="1" dirty="0" err="1">
                <a:solidFill>
                  <a:srgbClr val="002878"/>
                </a:solidFill>
                <a:latin typeface="나눔스퀘어 네오 OTF Bold"/>
              </a:rPr>
              <a:t>편차</a:t>
            </a:r>
            <a:r>
              <a:rPr sz="950" b="1" dirty="0">
                <a:solidFill>
                  <a:srgbClr val="002878"/>
                </a:solidFill>
                <a:latin typeface="나눔스퀘어 네오 OTF Bold"/>
              </a:rPr>
              <a:t> ≈ </a:t>
            </a:r>
            <a:r>
              <a:rPr lang="en-US" sz="950" b="1" dirty="0">
                <a:solidFill>
                  <a:srgbClr val="002878"/>
                </a:solidFill>
                <a:latin typeface="나눔스퀘어 네오 OTF Bold"/>
              </a:rPr>
              <a:t>16ms</a:t>
            </a:r>
            <a:endParaRPr sz="950" b="1" dirty="0">
              <a:solidFill>
                <a:srgbClr val="002878"/>
              </a:solidFill>
              <a:latin typeface="나눔스퀘어 네오 OTF Bold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236207" y="6110359"/>
            <a:ext cx="3849624" cy="293735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rtl="0">
              <a:lnSpc>
                <a:spcPts val="1100"/>
              </a:lnSpc>
            </a:pPr>
            <a:r>
              <a:rPr lang="ko-KR" altLang="en-US" sz="800" dirty="0"/>
              <a:t>비전 두 채널은 </a:t>
            </a:r>
            <a:r>
              <a:rPr lang="en-US" altLang="ko-KR" sz="800" dirty="0"/>
              <a:t>+33 </a:t>
            </a:r>
            <a:r>
              <a:rPr lang="en-US" altLang="ko-KR" sz="800" dirty="0" err="1"/>
              <a:t>ms</a:t>
            </a:r>
            <a:r>
              <a:rPr lang="ko-KR" altLang="en-US" sz="800" dirty="0"/>
              <a:t>로 동일하여 비전 간 차이는 없습니다</a:t>
            </a:r>
            <a:r>
              <a:rPr lang="en-US" altLang="ko-KR" sz="800" dirty="0"/>
              <a:t>.</a:t>
            </a:r>
          </a:p>
          <a:p>
            <a:pPr rtl="0">
              <a:lnSpc>
                <a:spcPts val="1100"/>
              </a:lnSpc>
            </a:pPr>
            <a:r>
              <a:rPr lang="ko-KR" altLang="en-US" sz="800" dirty="0"/>
              <a:t>음향은 </a:t>
            </a:r>
            <a:r>
              <a:rPr lang="en-US" altLang="ko-KR" sz="800" dirty="0"/>
              <a:t>+16 </a:t>
            </a:r>
            <a:r>
              <a:rPr lang="en-US" altLang="ko-KR" sz="800" dirty="0" err="1"/>
              <a:t>ms</a:t>
            </a:r>
            <a:r>
              <a:rPr lang="ko-KR" altLang="en-US" sz="800" dirty="0"/>
              <a:t>이며</a:t>
            </a:r>
            <a:r>
              <a:rPr lang="en-US" altLang="ko-KR" sz="800" dirty="0"/>
              <a:t>, </a:t>
            </a:r>
            <a:r>
              <a:rPr lang="ko-KR" altLang="en-US" sz="800" dirty="0"/>
              <a:t>비전</a:t>
            </a:r>
            <a:r>
              <a:rPr lang="en-US" altLang="ko-KR" sz="800" dirty="0"/>
              <a:t> - </a:t>
            </a:r>
            <a:r>
              <a:rPr lang="ko-KR" altLang="en-US" sz="800" dirty="0"/>
              <a:t>음향 관측 차이는 약 </a:t>
            </a:r>
            <a:r>
              <a:rPr lang="en-US" altLang="ko-KR" sz="800" dirty="0"/>
              <a:t>16 </a:t>
            </a:r>
            <a:r>
              <a:rPr lang="en-US" altLang="ko-KR" sz="800" dirty="0" err="1"/>
              <a:t>ms</a:t>
            </a:r>
            <a:r>
              <a:rPr lang="ko-KR" altLang="en-US" sz="800" dirty="0"/>
              <a:t>입니다</a:t>
            </a:r>
            <a:r>
              <a:rPr lang="en-US" altLang="ko-KR" sz="800" dirty="0"/>
              <a:t>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971031" y="6554724"/>
            <a:ext cx="127284" cy="92171"/>
          </a:xfrm>
          <a:prstGeom prst="roundRect">
            <a:avLst>
              <a:gd name="adj" fmla="val 12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5998464" y="6518148"/>
            <a:ext cx="0" cy="3657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5998464" y="6518148"/>
            <a:ext cx="73152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071616" y="6518148"/>
            <a:ext cx="0" cy="3657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6024067" y="6591300"/>
            <a:ext cx="21945" cy="21945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36207" y="6426708"/>
            <a:ext cx="38496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보정 없이 그대로 판정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7" y="6664452"/>
            <a:ext cx="384962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관측된 입력 프레임을 그대로 사용하며, 임의 보정은 적용하지 않습니다.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6. 기어/클러스터 및 음향 판정 데모 영상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8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APX 에서 설정부터 판정까지 이루어지는 과정을 촬영한 영상입니다</a:t>
            </a:r>
          </a:p>
        </p:txBody>
      </p:sp>
      <p:pic>
        <p:nvPicPr>
          <p:cNvPr id="7" name="verdict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0624" y="1152144"/>
            <a:ext cx="61722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624" y="4773168"/>
            <a:ext cx="617220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시뮬레이터 판정 결과 — 이미지 교체 트리거를 기준점(T0)으로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5065776"/>
            <a:ext cx="1975104" cy="256032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5065776"/>
            <a:ext cx="1975104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002878"/>
                </a:solidFill>
                <a:latin typeface="나눔스퀘어 네오 OTF Bold"/>
              </a:rPr>
              <a:t>채널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5728" y="5065776"/>
            <a:ext cx="1110995" cy="256032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95728" y="5065776"/>
            <a:ext cx="1110995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002878"/>
                </a:solidFill>
                <a:latin typeface="나눔스퀘어 네오 OTF Bold"/>
              </a:rPr>
              <a:t>T0 대비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6724" y="5065776"/>
            <a:ext cx="802386" cy="256032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6724" y="5065776"/>
            <a:ext cx="802386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002878"/>
                </a:solidFill>
                <a:latin typeface="나눔스퀘어 네오 OTF Bold"/>
              </a:rPr>
              <a:t>간격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110" y="5065776"/>
            <a:ext cx="802386" cy="256032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09110" y="5065776"/>
            <a:ext cx="802386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002878"/>
                </a:solidFill>
                <a:latin typeface="나눔스퀘어 네오 OTF Bold"/>
              </a:rPr>
              <a:t>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11496" y="5065776"/>
            <a:ext cx="1481328" cy="256032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11496" y="5065776"/>
            <a:ext cx="1481328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002878"/>
                </a:solidFill>
                <a:latin typeface="나눔스퀘어 네오 OTF Bold"/>
              </a:rPr>
              <a:t>T0 − 자체판단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5321808"/>
            <a:ext cx="19751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" y="5321808"/>
            <a:ext cx="1975104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1">
                <a:solidFill>
                  <a:srgbClr val="262626"/>
                </a:solidFill>
                <a:latin typeface="나눔스퀘어 네오 OTF Bold"/>
              </a:rPr>
              <a:t>이미지 교체 트리거 (T0)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5728" y="5321808"/>
            <a:ext cx="1110995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95728" y="5321808"/>
            <a:ext cx="1110995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6724" y="532180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06724" y="532180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09110" y="532180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09110" y="532180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1496" y="5321808"/>
            <a:ext cx="14813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11496" y="5321808"/>
            <a:ext cx="1481328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" y="5596128"/>
            <a:ext cx="19751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0624" y="5596128"/>
            <a:ext cx="1975104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1">
                <a:solidFill>
                  <a:srgbClr val="262626"/>
                </a:solidFill>
                <a:latin typeface="나눔스퀘어 네오 OTF Bold"/>
              </a:rPr>
              <a:t>기어봉 (CH2)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5728" y="5596128"/>
            <a:ext cx="1110995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95728" y="5596128"/>
            <a:ext cx="1110995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+ 152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6724" y="559612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06724" y="559612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15.8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9110" y="559612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9110" y="559612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11.1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11496" y="5596128"/>
            <a:ext cx="14813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11496" y="5596128"/>
            <a:ext cx="1481328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125.1 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" y="5870448"/>
            <a:ext cx="19751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0624" y="5870448"/>
            <a:ext cx="1975104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1">
                <a:solidFill>
                  <a:srgbClr val="262626"/>
                </a:solidFill>
                <a:latin typeface="나눔스퀘어 네오 OTF Bold"/>
              </a:rPr>
              <a:t>음향 (마이크)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95728" y="5870448"/>
            <a:ext cx="1110995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395728" y="5870448"/>
            <a:ext cx="1110995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+ 168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06724" y="587044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06724" y="587044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10.0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09110" y="587044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09110" y="587044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0.8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11496" y="5870448"/>
            <a:ext cx="14813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11496" y="5870448"/>
            <a:ext cx="1481328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157.2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" y="6144768"/>
            <a:ext cx="19751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0624" y="6144768"/>
            <a:ext cx="1975104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1">
                <a:solidFill>
                  <a:srgbClr val="262626"/>
                </a:solidFill>
                <a:latin typeface="나눔스퀘어 네오 OTF Bold"/>
              </a:rPr>
              <a:t>클러스터 (CH1)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5728" y="6144768"/>
            <a:ext cx="1110995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395728" y="6144768"/>
            <a:ext cx="1110995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+ 231 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06724" y="614476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06724" y="614476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17.0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09110" y="614476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09110" y="614476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15.9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11496" y="6144768"/>
            <a:ext cx="14813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111496" y="6144768"/>
            <a:ext cx="1481328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198.1 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" y="6455664"/>
            <a:ext cx="617220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나눔스퀘어 네오 OTF Regular"/>
              </a:rPr>
              <a:t>간격 · 분석 단위 ms · 촬영 1280 × 720 · 30 fps · 51 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1152144"/>
            <a:ext cx="341071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영상에서 확인하는 내용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0" y="1444752"/>
            <a:ext cx="3410712" cy="2212848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2" name="Connector 61"/>
          <p:cNvCxnSpPr/>
          <p:nvPr/>
        </p:nvCxnSpPr>
        <p:spPr>
          <a:xfrm>
            <a:off x="7050024" y="1671066"/>
            <a:ext cx="0" cy="128015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050024" y="1799081"/>
            <a:ext cx="128016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086600" y="1634489"/>
            <a:ext cx="128016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214616" y="1634489"/>
            <a:ext cx="0" cy="1280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7086600" y="1671066"/>
            <a:ext cx="92171" cy="92171"/>
          </a:xfrm>
          <a:prstGeom prst="rect">
            <a:avLst/>
          </a:prstGeom>
          <a:noFill/>
          <a:ln w="1270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333488" y="1579625"/>
            <a:ext cx="275234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① ROI 지정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33488" y="1817369"/>
            <a:ext cx="275234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클러스터 · 기어봉 판정 영역을 지정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040879" y="2160269"/>
            <a:ext cx="92171" cy="92171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7132320" y="2160269"/>
            <a:ext cx="92171" cy="92171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70"/>
          <p:cNvCxnSpPr/>
          <p:nvPr/>
        </p:nvCxnSpPr>
        <p:spPr>
          <a:xfrm>
            <a:off x="7086600" y="2279141"/>
            <a:ext cx="9144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086600" y="2306573"/>
            <a:ext cx="9144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7104888" y="2183129"/>
            <a:ext cx="54864" cy="5486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7196328" y="2183129"/>
            <a:ext cx="54864" cy="5486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333488" y="2096261"/>
            <a:ext cx="275234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② 매칭도 실시간 표시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33488" y="2334005"/>
            <a:ext cx="275234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기준과의 NCC 값이 즉시 갱신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059168" y="2663189"/>
            <a:ext cx="144840" cy="17337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Connector 77"/>
          <p:cNvCxnSpPr/>
          <p:nvPr/>
        </p:nvCxnSpPr>
        <p:spPr>
          <a:xfrm>
            <a:off x="7082028" y="2740913"/>
            <a:ext cx="0" cy="36576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102144" y="2722625"/>
            <a:ext cx="0" cy="7315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122261" y="2736341"/>
            <a:ext cx="0" cy="4572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142378" y="2713482"/>
            <a:ext cx="0" cy="9144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162495" y="2731770"/>
            <a:ext cx="0" cy="54864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182612" y="2745486"/>
            <a:ext cx="0" cy="2743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333488" y="2612898"/>
            <a:ext cx="275234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③ 기대 경고음 등록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33488" y="2850641"/>
            <a:ext cx="275234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WAV 등록 및 수음 파형 확인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068312" y="3257549"/>
            <a:ext cx="127284" cy="92171"/>
          </a:xfrm>
          <a:prstGeom prst="roundRect">
            <a:avLst>
              <a:gd name="adj" fmla="val 12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7" name="Connector 86"/>
          <p:cNvCxnSpPr/>
          <p:nvPr/>
        </p:nvCxnSpPr>
        <p:spPr>
          <a:xfrm flipV="1">
            <a:off x="7095744" y="3220973"/>
            <a:ext cx="0" cy="3657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095744" y="3220973"/>
            <a:ext cx="73152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168896" y="3220973"/>
            <a:ext cx="0" cy="3657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7121347" y="3294125"/>
            <a:ext cx="21945" cy="21945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333488" y="3129533"/>
            <a:ext cx="275234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④ PASS 확정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33488" y="3367277"/>
            <a:ext cx="275234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임계를 처음 넘은 시점에서 확정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0" y="3822191"/>
            <a:ext cx="341071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지연 발생 요인 — 영향이 큰 항목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858000" y="4114800"/>
            <a:ext cx="3410712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004304" y="4206240"/>
            <a:ext cx="3118104" cy="135331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· Windows 오디오 입 · 출력 버퍼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   (OS · 드라이버 단계)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· 카메라 노출 → USB / DirectShow 프레임 버퍼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   → 다음 프레임 도착 (60 fps 기준 최대 16.7 ms)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· Windows 화면 합성(DWM) 및 모니터 표시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· 시뮬레이터가 기어 화면을 먼저 갱신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   → 클러스터가 79 ms 늦게 표출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858000" y="5815584"/>
            <a:ext cx="3410712" cy="1115568"/>
          </a:xfrm>
          <a:prstGeom prst="roundRect">
            <a:avLst>
              <a:gd name="adj" fmla="val 6000"/>
            </a:avLst>
          </a:prstGeom>
          <a:solidFill>
            <a:srgbClr val="FFF9E1"/>
          </a:solidFill>
          <a:ln w="9525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97" name="Connector 96"/>
          <p:cNvCxnSpPr/>
          <p:nvPr/>
        </p:nvCxnSpPr>
        <p:spPr>
          <a:xfrm flipH="1">
            <a:off x="7027164" y="6080760"/>
            <a:ext cx="86868" cy="155448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027164" y="6236208"/>
            <a:ext cx="173736" cy="0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7114032" y="6080760"/>
            <a:ext cx="86868" cy="155448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114032" y="6135624"/>
            <a:ext cx="0" cy="54864"/>
          </a:xfrm>
          <a:prstGeom prst="line">
            <a:avLst/>
          </a:prstGeom>
          <a:ln w="2032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7106716" y="6205118"/>
            <a:ext cx="15361" cy="15361"/>
          </a:xfrm>
          <a:prstGeom prst="ellipse">
            <a:avLst/>
          </a:prstGeom>
          <a:solidFill>
            <a:srgbClr val="B87400"/>
          </a:solidFill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315200" y="5815584"/>
            <a:ext cx="2788920" cy="111556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950" b="1">
                <a:solidFill>
                  <a:srgbClr val="B87400"/>
                </a:solidFill>
                <a:latin typeface="나눔스퀘어 네오 OTF Bold"/>
              </a:rPr>
              <a:t>시뮬레이터 구성에서 측정한 값입니다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위 요인이 누적되어 측정 시각은 실제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표출 시각과 차이가 있을 수 있습니다.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7. 법규 별 사용자 시나리오 – 공통 판정 구조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9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세 법규의 판정은 형태가 같습니다 — 「시험수행 시점 − 판정 시점」의 시간 간격이 기준 이내인가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152144"/>
            <a:ext cx="9848088" cy="658368"/>
          </a:xfrm>
          <a:prstGeom prst="roundRect">
            <a:avLst>
              <a:gd name="adj" fmla="val 6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1152144"/>
            <a:ext cx="9848088" cy="6583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02878"/>
                </a:solidFill>
                <a:latin typeface="나눔스퀘어 네오 OTF Bold"/>
              </a:rPr>
              <a:t>최종 PASS  =  음향 PASS   AND   비전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975104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공통 수행 흐름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26771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14399" y="2415921"/>
            <a:ext cx="132588" cy="132588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58214" y="2459736"/>
            <a:ext cx="45720" cy="4572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361084" y="2482596"/>
            <a:ext cx="24765" cy="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7650" y="2539171"/>
            <a:ext cx="17511" cy="1751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81074" y="2562606"/>
            <a:ext cx="0" cy="24765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206987" y="2539171"/>
            <a:ext cx="17511" cy="1751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76299" y="2482596"/>
            <a:ext cx="24765" cy="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206987" y="2408508"/>
            <a:ext cx="17511" cy="1751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81074" y="2377820"/>
            <a:ext cx="0" cy="24766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337650" y="2408508"/>
            <a:ext cx="17511" cy="1751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0624" y="263347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① 설정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302666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웹캠 2CH · 마이크
ROI · 기대음 · 임계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2196388" y="253288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452420" y="226771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222383" y="2392108"/>
            <a:ext cx="180594" cy="18059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/>
          <p:cNvSpPr/>
          <p:nvPr/>
        </p:nvSpPr>
        <p:spPr>
          <a:xfrm rot="5400000">
            <a:off x="3284296" y="2444496"/>
            <a:ext cx="66294" cy="75438"/>
          </a:xfrm>
          <a:prstGeom prst="triangle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52420" y="263347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② 측정 시작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2420" y="302666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설정 스냅샷 고정
공통 시계 0점 · 전 구간 녹화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4228185" y="253288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484217" y="226771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 flipH="1">
            <a:off x="5297043" y="2387346"/>
            <a:ext cx="61912" cy="104774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97043" y="2492120"/>
            <a:ext cx="47625" cy="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320855" y="2492120"/>
            <a:ext cx="23813" cy="85725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320855" y="2463545"/>
            <a:ext cx="71437" cy="11430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344668" y="2463545"/>
            <a:ext cx="47624" cy="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344668" y="2387346"/>
            <a:ext cx="14287" cy="76199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484217" y="263347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③ 자극 발생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4217" y="302666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실차 조작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6259982" y="253288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516014" y="226771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7285977" y="2425446"/>
            <a:ext cx="180975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315504" y="2412111"/>
            <a:ext cx="26289" cy="26289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7285977" y="2482596"/>
            <a:ext cx="180975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372654" y="2469261"/>
            <a:ext cx="26289" cy="26289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7285977" y="2539746"/>
            <a:ext cx="180975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410754" y="2526411"/>
            <a:ext cx="26289" cy="26289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16014" y="263347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④ 채널별 검출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6014" y="302666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비전 2CH · 음향 1CH 각각 검출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8291779" y="253288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547811" y="226771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332061" y="2392108"/>
            <a:ext cx="141732" cy="180594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9360636" y="244449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60636" y="248259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60636" y="2520695"/>
            <a:ext cx="476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422549" y="2496883"/>
            <a:ext cx="96012" cy="960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9436836" y="2539746"/>
            <a:ext cx="19050" cy="1905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455886" y="2515933"/>
            <a:ext cx="28575" cy="42863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547811" y="263347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⑤ 판정 · 증거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" y="3584448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법규별 차이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4" y="3877056"/>
            <a:ext cx="1378732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0624" y="3877056"/>
            <a:ext cx="137873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법규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99356" y="3877056"/>
            <a:ext cx="1969617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799356" y="3877056"/>
            <a:ext cx="1969617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기준점 (T0)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68973" y="3877056"/>
            <a:ext cx="2757464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768973" y="3877056"/>
            <a:ext cx="2757464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판정 대상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26438" y="3877056"/>
            <a:ext cx="1575694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526438" y="3877056"/>
            <a:ext cx="1575694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기준 시간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02132" y="3877056"/>
            <a:ext cx="2166579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102132" y="3877056"/>
            <a:ext cx="2166579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반복 구조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" y="4151376"/>
            <a:ext cx="13787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20624" y="4151376"/>
            <a:ext cx="1378732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나눔스퀘어 네오 OTF Bold"/>
              </a:rPr>
              <a:t>R158  PDW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99356" y="4151376"/>
            <a:ext cx="1969617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799356" y="4151376"/>
            <a:ext cx="1969617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R단 변속 (CAN)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68973" y="4151376"/>
            <a:ext cx="2757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768973" y="4151376"/>
            <a:ext cx="2757464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경고음 · 클러스터 경고 표시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26438" y="4151376"/>
            <a:ext cx="157569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26438" y="4151376"/>
            <a:ext cx="1575694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C00000"/>
                </a:solidFill>
                <a:latin typeface="나눔스퀘어 네오 OTF Regular"/>
              </a:rPr>
              <a:t>≤ 0.6 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02132" y="4151376"/>
            <a:ext cx="216657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02132" y="4151376"/>
            <a:ext cx="2166579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설정한 인식 포인트 수만큼 반복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0624" y="4480560"/>
            <a:ext cx="13787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0624" y="4480560"/>
            <a:ext cx="1378732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나눔스퀘어 네오 OTF Bold"/>
              </a:rPr>
              <a:t>R175  PMSA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99356" y="4480560"/>
            <a:ext cx="1969617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799356" y="4480560"/>
            <a:ext cx="1969617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IG ON / 고장 발생 (CAN)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768973" y="4480560"/>
            <a:ext cx="2757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768973" y="4480560"/>
            <a:ext cx="2757464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클러스터 팝업 표출 · 유지 · 해제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26438" y="4480560"/>
            <a:ext cx="157569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526438" y="4480560"/>
            <a:ext cx="1575694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C00000"/>
                </a:solidFill>
                <a:latin typeface="나눔스퀘어 네오 OTF Regular"/>
              </a:rPr>
              <a:t>≤ 6 s / ≥ 10 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02132" y="4480560"/>
            <a:ext cx="216657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102132" y="4480560"/>
            <a:ext cx="2166579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IG 사이클 반복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0624" y="4809744"/>
            <a:ext cx="13787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20624" y="4809744"/>
            <a:ext cx="1378732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나눔스퀘어 네오 OTF Bold"/>
              </a:rPr>
              <a:t>NCAP  PCA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99356" y="4809744"/>
            <a:ext cx="1969617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799356" y="4809744"/>
            <a:ext cx="1969617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긴급제동 요청 (CAN)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68973" y="4809744"/>
            <a:ext cx="2757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768973" y="4809744"/>
            <a:ext cx="2757464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충돌 경고 · 긴급제동 표시 · 촉각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526438" y="4809744"/>
            <a:ext cx="157569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526438" y="4809744"/>
            <a:ext cx="1575694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C00000"/>
                </a:solidFill>
                <a:latin typeface="나눔스퀘어 네오 OTF Regular"/>
              </a:rPr>
              <a:t>선후 관계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02132" y="4809744"/>
            <a:ext cx="216657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02132" y="4809744"/>
            <a:ext cx="2166579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정차 · 1회성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0624" y="5358384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현재 구현 범위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0624" y="5650992"/>
            <a:ext cx="7878470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20624" y="5650992"/>
            <a:ext cx="7878470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항목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99094" y="5650992"/>
            <a:ext cx="1969617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299094" y="5650992"/>
            <a:ext cx="1969617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상태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" y="5925312"/>
            <a:ext cx="787847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20624" y="5925312"/>
            <a:ext cx="7878470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음향 검측 엔진 (정합필터 · 이중 판정)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299094" y="5925312"/>
            <a:ext cx="1969617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299094" y="5925312"/>
            <a:ext cx="1969617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3E8853"/>
                </a:solidFill>
                <a:latin typeface="나눔스퀘어 네오 OTF Regular"/>
              </a:rPr>
              <a:t>구현 완료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20624" y="6199631"/>
            <a:ext cx="787847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20624" y="6199631"/>
            <a:ext cx="7878470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비전 검측 엔진 (ROI · NCC · 래치)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99094" y="6199631"/>
            <a:ext cx="1969617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99094" y="6199631"/>
            <a:ext cx="1969617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3E8853"/>
                </a:solidFill>
                <a:latin typeface="나눔스퀘어 네오 OTF Regular"/>
              </a:rPr>
              <a:t>구현 완료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20624" y="6473951"/>
            <a:ext cx="787847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20624" y="6473951"/>
            <a:ext cx="7878470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측정 세션 · 동기 판정 · 증거 저장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299094" y="6473951"/>
            <a:ext cx="1969617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299094" y="6473951"/>
            <a:ext cx="1969617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3E8853"/>
                </a:solidFill>
                <a:latin typeface="나눔스퀘어 네오 OTF Regular"/>
              </a:rPr>
              <a:t>구현 완료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20624" y="6748271"/>
            <a:ext cx="787847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20624" y="6748271"/>
            <a:ext cx="7878470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CAN 신호 연동 (R175 · NCAP)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299094" y="6748271"/>
            <a:ext cx="1969617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299094" y="6748271"/>
            <a:ext cx="1969617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FF8327"/>
                </a:solidFill>
                <a:latin typeface="나눔스퀘어 네오 OTF Regular"/>
              </a:rPr>
              <a:t>설계 완료 · 개발 예정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7-1. 법규 별 사용자 시나리오 – UN R158 (PDW)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10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R단 변속 후 0.6초 이내에 경고음 또는 경고 표시가 제공되는지를, 인식 포인트를 옮겨가며 반복 계측합니다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152144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시험 수행 시나리오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도구 자동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9473184" y="1202436"/>
            <a:ext cx="118872" cy="118872"/>
          </a:xfrm>
          <a:prstGeom prst="rect">
            <a:avLst/>
          </a:prstGeom>
          <a:solidFill>
            <a:srgbClr val="F4F5FA"/>
          </a:solidFill>
          <a:ln w="1143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사용자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7072" y="1202436"/>
            <a:ext cx="118872" cy="118872"/>
          </a:xfrm>
          <a:prstGeom prst="rect">
            <a:avLst/>
          </a:prstGeom>
          <a:solidFill>
            <a:srgbClr val="FFF9E1"/>
          </a:solidFill>
          <a:ln w="1143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624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14399" y="1592961"/>
            <a:ext cx="132588" cy="132588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58214" y="1636776"/>
            <a:ext cx="45720" cy="45720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361084" y="1659636"/>
            <a:ext cx="24765" cy="0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37650" y="1716211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1074" y="1739646"/>
            <a:ext cx="0" cy="24765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206987" y="1716211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176299" y="1659636"/>
            <a:ext cx="24765" cy="0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206987" y="1585548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281074" y="1554861"/>
            <a:ext cx="0" cy="24765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37650" y="1585548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0624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장비 · 임계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ROI 드래그 · 기대음 등록
임계 지정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2196388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452420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3227146" y="1573911"/>
            <a:ext cx="0" cy="17145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27146" y="1573911"/>
            <a:ext cx="171450" cy="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84296" y="1573911"/>
            <a:ext cx="0" cy="17145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227146" y="1631061"/>
            <a:ext cx="171450" cy="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341446" y="1573911"/>
            <a:ext cx="0" cy="17145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7146" y="1688211"/>
            <a:ext cx="171450" cy="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98596" y="1573911"/>
            <a:ext cx="0" cy="17145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27146" y="1745361"/>
            <a:ext cx="171450" cy="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322396" y="1612011"/>
            <a:ext cx="38862" cy="38862"/>
          </a:xfrm>
          <a:prstGeom prst="ellipse">
            <a:avLst/>
          </a:prstGeom>
          <a:solidFill>
            <a:srgbClr val="B87400"/>
          </a:solidFill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52420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인식 포인트 설정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52420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차량 후륜 전폭 입력
격자 행 · 열을 사용자가 지정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4228185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484217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268468" y="1583436"/>
            <a:ext cx="153162" cy="153162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262753" y="1570101"/>
            <a:ext cx="68580" cy="685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5306567" y="1564386"/>
            <a:ext cx="38101" cy="23812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5306567" y="1588198"/>
            <a:ext cx="38101" cy="23813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484217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포인트 이동 → 기어 변속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4217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인식 포인트를 옮기고
기어 변속을 반복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6259982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516014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285977" y="1569148"/>
            <a:ext cx="180594" cy="18059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7333602" y="1664398"/>
            <a:ext cx="28575" cy="33338"/>
          </a:xfrm>
          <a:prstGeom prst="line">
            <a:avLst/>
          </a:prstGeom>
          <a:ln w="2286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362177" y="1626298"/>
            <a:ext cx="57150" cy="71438"/>
          </a:xfrm>
          <a:prstGeom prst="line">
            <a:avLst/>
          </a:prstGeom>
          <a:ln w="2286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516014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자동 판정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6014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경고음 · 경고 표시
검출 시각 계측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8291779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547811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332061" y="1569148"/>
            <a:ext cx="141732" cy="180594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9360636" y="162153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0636" y="165963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360636" y="1697736"/>
            <a:ext cx="476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9422549" y="1673923"/>
            <a:ext cx="96012" cy="960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9436836" y="1716786"/>
            <a:ext cx="19050" cy="1905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455886" y="1692973"/>
            <a:ext cx="28575" cy="42863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547811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결과 표출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47811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포인트별 격자 시각화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0624" y="2688336"/>
            <a:ext cx="589788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판정 항목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" y="2980944"/>
            <a:ext cx="2359152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20624" y="2980944"/>
            <a:ext cx="235915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계측 구간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79776" y="2980944"/>
            <a:ext cx="2123236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79776" y="2980944"/>
            <a:ext cx="2123236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기대값 (비교 대상)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03012" y="2980944"/>
            <a:ext cx="1415491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03012" y="2980944"/>
            <a:ext cx="1415491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기준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0624" y="3255263"/>
            <a:ext cx="23591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20624" y="3255263"/>
            <a:ext cx="2359152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R단 변속 → 청각 경고음 발생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79776" y="3255263"/>
            <a:ext cx="212323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779776" y="3255263"/>
            <a:ext cx="2123236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B87400"/>
                </a:solidFill>
                <a:latin typeface="나눔스퀘어 네오 OTF Regular"/>
              </a:rPr>
              <a:t>기대 경고음 WAV (PDW_1)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03012" y="3255263"/>
            <a:ext cx="141549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903012" y="3255263"/>
            <a:ext cx="1415491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C00000"/>
                </a:solidFill>
                <a:latin typeface="나눔스퀘어 네오 OTF Regular"/>
              </a:rPr>
              <a:t>≤ 600 ms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" y="3749039"/>
            <a:ext cx="23591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20624" y="3749039"/>
            <a:ext cx="2359152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경고 모달리티 수 (시각 · 청각)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79776" y="3749039"/>
            <a:ext cx="212323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779776" y="3749039"/>
            <a:ext cx="2123236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B87400"/>
                </a:solidFill>
                <a:latin typeface="나눔스퀘어 네오 OTF Regular"/>
              </a:rPr>
              <a:t>경고 팝업 ROI + 기대 경고음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03012" y="3749039"/>
            <a:ext cx="141549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03012" y="3749039"/>
            <a:ext cx="1415491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C00000"/>
                </a:solidFill>
                <a:latin typeface="나눔스퀘어 네오 OTF Regular"/>
              </a:rPr>
              <a:t>모두 만족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0624" y="4261103"/>
            <a:ext cx="58978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B87400"/>
                </a:solidFill>
                <a:latin typeface="나눔스퀘어 네오 OTF Regular"/>
              </a:rPr>
              <a:t>주황색 = 사용자가 설정 화면에서 직접 지정한 ROI · 기대음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624" y="4498848"/>
            <a:ext cx="589788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인식 포인트 격자 — 사용자가 행 · 열을 지정 (예: 8 × 19)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20624" y="4791456"/>
            <a:ext cx="5897880" cy="1883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640080" y="5084064"/>
            <a:ext cx="713232" cy="1298448"/>
          </a:xfrm>
          <a:prstGeom prst="roundRect">
            <a:avLst>
              <a:gd name="adj" fmla="val 16000"/>
            </a:avLst>
          </a:prstGeom>
          <a:solidFill>
            <a:srgbClr val="F8F8F8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40080" y="6373368"/>
            <a:ext cx="713232" cy="2011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12064" y="6428232"/>
            <a:ext cx="10789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00" b="1">
                <a:solidFill>
                  <a:srgbClr val="C00000"/>
                </a:solidFill>
                <a:latin typeface="나눔스퀘어 네오 OTF Bold"/>
              </a:rPr>
              <a:t>후륜 기준선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4901184"/>
            <a:ext cx="713232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차량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45920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781251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916582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2051913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2187244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322576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457907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593238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2728569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2863900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999232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134563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3269894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405225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540556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3675887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3811219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3946550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4081881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645920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781251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916582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2051913" y="5237683"/>
            <a:ext cx="115214" cy="11521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2187244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322576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457907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593238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728569" y="5237683"/>
            <a:ext cx="115214" cy="11521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863900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999232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3134563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3269894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405225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540556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675887" y="5237683"/>
            <a:ext cx="115214" cy="11521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811219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946550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4081881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1645920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1781251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1916582" y="5373014"/>
            <a:ext cx="115214" cy="11521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2051913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2187244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2322576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2457907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2593238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2728569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2863900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2999232" y="5373014"/>
            <a:ext cx="115214" cy="11521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3134563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269894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3405225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3540556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3675887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811219" y="5373014"/>
            <a:ext cx="115214" cy="11521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3946550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4081881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645920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781251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1916582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2051913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2187244" y="5508345"/>
            <a:ext cx="115214" cy="11521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2322576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2457907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2593238" y="5508345"/>
            <a:ext cx="115214" cy="11521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2728569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2863900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2999232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3134563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3269894" y="5508345"/>
            <a:ext cx="115214" cy="11521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3405225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3540556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3675887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3811219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3946550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4081881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1645920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1781251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1916582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2051913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2187244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2322576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2457907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2593238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2728569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2863900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2999232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3134563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3269894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3405225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3540556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3675887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3811219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3946550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4081881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645920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781251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916582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2051913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2187244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2322576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2457907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2593238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2728569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2863900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2999232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3134563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3269894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3405225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3540556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3675887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3811219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3946550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4081881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1645920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1781251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1916582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2051913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2187244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2322576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2457907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2593238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2728569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2863900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2999232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3134563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3269894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3405225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3540556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3675887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3811219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3946550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4081881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1645920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1781251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1916582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2051913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2187244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2322576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2457907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2593238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2728569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2863900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2999232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3134563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3269894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3405225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3540556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3675887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3811219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3946550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4081881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1645920" y="4901184"/>
            <a:ext cx="2551176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0.9 L                 중심 0                 0.9 R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645920" y="6203289"/>
            <a:ext cx="2551176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종위치 0.25 ~ 0.95 m · 격자 0.1 m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4416552" y="5129784"/>
            <a:ext cx="109728" cy="109728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4590288" y="5093208"/>
            <a:ext cx="8686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262626"/>
                </a:solidFill>
                <a:latin typeface="나눔스퀘어 네오 OTF Regular"/>
              </a:rPr>
              <a:t>PASS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416552" y="5404104"/>
            <a:ext cx="109728" cy="109728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4590288" y="5367528"/>
            <a:ext cx="8686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262626"/>
                </a:solidFill>
                <a:latin typeface="나눔스퀘어 네오 OTF Regular"/>
              </a:rPr>
              <a:t>경고 부족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4416552" y="5678424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4590288" y="5641848"/>
            <a:ext cx="8686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262626"/>
                </a:solidFill>
                <a:latin typeface="나눔스퀘어 네오 OTF Regular"/>
              </a:rPr>
              <a:t>FAIL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4416552" y="5952744"/>
            <a:ext cx="109728" cy="109728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4590288" y="5916168"/>
            <a:ext cx="8686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262626"/>
                </a:solidFill>
                <a:latin typeface="나눔스퀘어 네오 OTF Regular"/>
              </a:rPr>
              <a:t>미시험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6583680" y="2688336"/>
            <a:ext cx="3685032" cy="384048"/>
          </a:xfrm>
          <a:prstGeom prst="roundRect">
            <a:avLst>
              <a:gd name="adj" fmla="val 10000"/>
            </a:avLst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6583680" y="2688336"/>
            <a:ext cx="3685032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나눔스퀘어 네오 OTF Bold"/>
              </a:rPr>
              <a:t>후방 장애물 감지 경고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6583680" y="3163824"/>
            <a:ext cx="3685032" cy="3767328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6729984" y="3273552"/>
            <a:ext cx="33924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시나리오 특징</a:t>
            </a:r>
          </a:p>
        </p:txBody>
      </p:sp>
      <p:sp>
        <p:nvSpPr>
          <p:cNvPr id="256" name="Oval 255"/>
          <p:cNvSpPr/>
          <p:nvPr/>
        </p:nvSpPr>
        <p:spPr>
          <a:xfrm>
            <a:off x="6784848" y="3776472"/>
            <a:ext cx="147035" cy="147035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6779361" y="3763670"/>
            <a:ext cx="65836" cy="6583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8" name="Connector 257"/>
          <p:cNvCxnSpPr/>
          <p:nvPr/>
        </p:nvCxnSpPr>
        <p:spPr>
          <a:xfrm>
            <a:off x="6821424" y="3758183"/>
            <a:ext cx="36576" cy="22861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H="1">
            <a:off x="6821424" y="3781044"/>
            <a:ext cx="36576" cy="22860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/>
          <p:cNvSpPr txBox="1"/>
          <p:nvPr/>
        </p:nvSpPr>
        <p:spPr>
          <a:xfrm>
            <a:off x="7059168" y="3712463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설정한 격자만큼 반복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059168" y="3950207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사용자가 지정한 격자 점 수만큼 시험을 반복합니다.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현재 포인트 좌표와 진척을 상시 표시합니다.</a:t>
            </a:r>
          </a:p>
        </p:txBody>
      </p:sp>
      <p:cxnSp>
        <p:nvCxnSpPr>
          <p:cNvPr id="262" name="Connector 261"/>
          <p:cNvCxnSpPr/>
          <p:nvPr/>
        </p:nvCxnSpPr>
        <p:spPr>
          <a:xfrm>
            <a:off x="6775704" y="4608576"/>
            <a:ext cx="0" cy="1280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6775704" y="4736592"/>
            <a:ext cx="128016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6812280" y="4572000"/>
            <a:ext cx="128016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6940296" y="4572000"/>
            <a:ext cx="0" cy="1280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Rectangle 265"/>
          <p:cNvSpPr/>
          <p:nvPr/>
        </p:nvSpPr>
        <p:spPr>
          <a:xfrm>
            <a:off x="6812280" y="4608576"/>
            <a:ext cx="92171" cy="92171"/>
          </a:xfrm>
          <a:prstGeom prst="rect">
            <a:avLst/>
          </a:prstGeom>
          <a:noFill/>
          <a:ln w="1270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7059168" y="4517136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기대값은 사용자가 지정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7059168" y="4754879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ROI 지정 시점의 프레임이 기준 이미지이며,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등록한 WAV 가 기대 경고음입니다.</a:t>
            </a:r>
          </a:p>
        </p:txBody>
      </p:sp>
      <p:cxnSp>
        <p:nvCxnSpPr>
          <p:cNvPr id="269" name="Connector 268"/>
          <p:cNvCxnSpPr/>
          <p:nvPr/>
        </p:nvCxnSpPr>
        <p:spPr>
          <a:xfrm>
            <a:off x="6775704" y="5376672"/>
            <a:ext cx="0" cy="164592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6775704" y="5376672"/>
            <a:ext cx="164592" cy="0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6830568" y="5376672"/>
            <a:ext cx="0" cy="164592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6775704" y="5431536"/>
            <a:ext cx="164592" cy="0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6885432" y="5376672"/>
            <a:ext cx="0" cy="164592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6775704" y="5486400"/>
            <a:ext cx="164592" cy="0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6940296" y="5376672"/>
            <a:ext cx="0" cy="164592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6775704" y="5541264"/>
            <a:ext cx="164592" cy="0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Oval 276"/>
          <p:cNvSpPr/>
          <p:nvPr/>
        </p:nvSpPr>
        <p:spPr>
          <a:xfrm>
            <a:off x="6867144" y="5413248"/>
            <a:ext cx="37307" cy="37307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7059168" y="5321807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포인트별 결과 적립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059168" y="5559551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Δt · 시각 경고 · 청각 경고를 각각 저장하여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격자에 색으로 누적 표시합니다.</a:t>
            </a:r>
          </a:p>
        </p:txBody>
      </p:sp>
      <p:sp>
        <p:nvSpPr>
          <p:cNvPr id="280" name="Oval 279"/>
          <p:cNvSpPr/>
          <p:nvPr/>
        </p:nvSpPr>
        <p:spPr>
          <a:xfrm>
            <a:off x="6771132" y="6254496"/>
            <a:ext cx="173370" cy="17337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Isosceles Triangle 280"/>
          <p:cNvSpPr/>
          <p:nvPr/>
        </p:nvSpPr>
        <p:spPr>
          <a:xfrm rot="5400000">
            <a:off x="6830568" y="6304788"/>
            <a:ext cx="63642" cy="72420"/>
          </a:xfrm>
          <a:prstGeom prst="triangle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7059168" y="6204204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셀 클릭 → 구간 재생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059168" y="6441948"/>
            <a:ext cx="302666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실패 지점을 즉시 되감아 재확인합니다.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7-2. 법규 별 사용자 시나리오 – UN R175 (PMSA)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11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사용자가 IG ON과 고장 주입을 반복하고, 도구가 팝업의 표출 · 유지 · 해제 시각을 계측합니다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152144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시험 수행 시나리오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도구 자동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9473184" y="1202436"/>
            <a:ext cx="118872" cy="118872"/>
          </a:xfrm>
          <a:prstGeom prst="rect">
            <a:avLst/>
          </a:prstGeom>
          <a:solidFill>
            <a:srgbClr val="F4F5FA"/>
          </a:solidFill>
          <a:ln w="1143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사용자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7072" y="1202436"/>
            <a:ext cx="118872" cy="118872"/>
          </a:xfrm>
          <a:prstGeom prst="rect">
            <a:avLst/>
          </a:prstGeom>
          <a:solidFill>
            <a:srgbClr val="FFF9E1"/>
          </a:solidFill>
          <a:ln w="1143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624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14399" y="1592961"/>
            <a:ext cx="132588" cy="132588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58214" y="1636776"/>
            <a:ext cx="45720" cy="45720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361084" y="1659636"/>
            <a:ext cx="24765" cy="0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37650" y="1716211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1074" y="1739646"/>
            <a:ext cx="0" cy="24765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206987" y="1716211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176299" y="1659636"/>
            <a:ext cx="24765" cy="0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206987" y="1585548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281074" y="1554861"/>
            <a:ext cx="0" cy="24765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37650" y="1585548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0624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장비 · 임계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고장 팝업이 표출된 상태에서
그 영역을 기대값으로 지정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2196388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452420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227146" y="1621536"/>
            <a:ext cx="77724" cy="77724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3303346" y="1659636"/>
            <a:ext cx="95250" cy="0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60496" y="1659636"/>
            <a:ext cx="0" cy="38100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89071" y="1659636"/>
            <a:ext cx="0" cy="28575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452420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IG 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2420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사용자가 시동 조작
기준점으로 사용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4228185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484217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 flipH="1">
            <a:off x="5254180" y="1573911"/>
            <a:ext cx="90488" cy="161925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254180" y="1735836"/>
            <a:ext cx="180975" cy="0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5344668" y="1573911"/>
            <a:ext cx="90487" cy="161925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44668" y="1631061"/>
            <a:ext cx="0" cy="57150"/>
          </a:xfrm>
          <a:prstGeom prst="line">
            <a:avLst/>
          </a:prstGeom>
          <a:ln w="2032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337047" y="1703451"/>
            <a:ext cx="16002" cy="16002"/>
          </a:xfrm>
          <a:prstGeom prst="ellipse">
            <a:avLst/>
          </a:prstGeom>
          <a:solidFill>
            <a:srgbClr val="B87400"/>
          </a:solidFill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4217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고장 주입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4217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고장 상황 발생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6259982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516014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285977" y="1569148"/>
            <a:ext cx="180594" cy="18059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7333602" y="1664398"/>
            <a:ext cx="28575" cy="33338"/>
          </a:xfrm>
          <a:prstGeom prst="line">
            <a:avLst/>
          </a:prstGeom>
          <a:ln w="2286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362177" y="1626298"/>
            <a:ext cx="57150" cy="71438"/>
          </a:xfrm>
          <a:prstGeom prst="line">
            <a:avLst/>
          </a:prstGeom>
          <a:ln w="2286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16014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자동 판정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6014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팝업 표출 · 유지 해제 시각 계측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8291779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547811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332061" y="1569148"/>
            <a:ext cx="141732" cy="180594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9360636" y="162153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60636" y="165963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60636" y="1697736"/>
            <a:ext cx="476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422549" y="1673923"/>
            <a:ext cx="96012" cy="960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9436836" y="1716786"/>
            <a:ext cx="19050" cy="1905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455886" y="1692973"/>
            <a:ext cx="28575" cy="42863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547811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결과 표출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7811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구간 판정 결과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" y="2688336"/>
            <a:ext cx="589788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판정 항목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" y="2980944"/>
            <a:ext cx="2359152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0624" y="2980944"/>
            <a:ext cx="235915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계측 구간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79776" y="2980944"/>
            <a:ext cx="2123236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779776" y="2980944"/>
            <a:ext cx="2123236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기대값 (비교 대상)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03012" y="2980944"/>
            <a:ext cx="1415491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03012" y="2980944"/>
            <a:ext cx="1415491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기준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" y="3255263"/>
            <a:ext cx="23591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0624" y="3255263"/>
            <a:ext cx="2359152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IG ON → PMSA 미준비 표시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79776" y="3255263"/>
            <a:ext cx="212323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79776" y="3255263"/>
            <a:ext cx="2123236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B87400"/>
                </a:solidFill>
                <a:latin typeface="나눔스퀘어 네오 OTF Regular"/>
              </a:rPr>
              <a:t>PMSA 미준비 팝업 ROI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03012" y="3255263"/>
            <a:ext cx="141549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03012" y="3255263"/>
            <a:ext cx="1415491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C00000"/>
                </a:solidFill>
                <a:latin typeface="나눔스퀘어 네오 OTF Regular"/>
              </a:rPr>
              <a:t>≤ 6 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0624" y="3749039"/>
            <a:ext cx="23591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20624" y="3749039"/>
            <a:ext cx="2359152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고장 팝업 On → Off (유지)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79776" y="3749039"/>
            <a:ext cx="212323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779776" y="3749039"/>
            <a:ext cx="2123236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B87400"/>
                </a:solidFill>
                <a:latin typeface="나눔스퀘어 네오 OTF Regular"/>
              </a:rPr>
              <a:t>동일 ROI 의 표출 · 해제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03012" y="3749039"/>
            <a:ext cx="141549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03012" y="3749039"/>
            <a:ext cx="1415491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C00000"/>
                </a:solidFill>
                <a:latin typeface="나눔스퀘어 네오 OTF Regular"/>
              </a:rPr>
              <a:t>≥ 10 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4261103"/>
            <a:ext cx="58978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B87400"/>
                </a:solidFill>
                <a:latin typeface="나눔스퀘어 네오 OTF Regular"/>
              </a:rPr>
              <a:t>주황색 = 사용자가 설정 화면에서 직접 지정한 ROI · 기대음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0624" y="4498848"/>
            <a:ext cx="589788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판정 구조 — 표출 시각과 유지 시간을 함께 계측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4791456"/>
            <a:ext cx="5897880" cy="1609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87552" y="5413248"/>
            <a:ext cx="4764024" cy="12801"/>
          </a:xfrm>
          <a:prstGeom prst="rect">
            <a:avLst/>
          </a:prstGeom>
          <a:solidFill>
            <a:srgbClr val="C8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80236" y="5138928"/>
            <a:ext cx="14630" cy="329184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41832" y="5367528"/>
            <a:ext cx="91440" cy="91440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93776" y="4919472"/>
            <a:ext cx="137160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IG 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09444" y="5138928"/>
            <a:ext cx="14630" cy="329184"/>
          </a:xfrm>
          <a:prstGeom prst="rect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2371039" y="5367528"/>
            <a:ext cx="91440" cy="91440"/>
          </a:xfrm>
          <a:prstGeom prst="rect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730959" y="4919472"/>
            <a:ext cx="137160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406FD8"/>
                </a:solidFill>
                <a:latin typeface="나눔스퀘어 네오 OTF Bold"/>
              </a:rPr>
              <a:t>팝업 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77297" y="5138928"/>
            <a:ext cx="14630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038892" y="5367528"/>
            <a:ext cx="91440" cy="914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398812" y="4919472"/>
            <a:ext cx="137160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나눔스퀘어 네오 OTF Bold"/>
              </a:rPr>
              <a:t>팝업 Off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7552" y="5650992"/>
            <a:ext cx="1429207" cy="2377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87552" y="5724144"/>
            <a:ext cx="1429207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C00000"/>
                </a:solidFill>
                <a:latin typeface="나눔스퀘어 네오 OTF Bold"/>
              </a:rPr>
              <a:t>5.1.4  ≤ 6 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416759" y="5925312"/>
            <a:ext cx="2667853" cy="2377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416759" y="5998464"/>
            <a:ext cx="2667853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3E8853"/>
                </a:solidFill>
                <a:latin typeface="나눔스퀘어 네오 OTF Bold"/>
              </a:rPr>
              <a:t>5.2.2  유지 ≥ 10 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1792" y="6126480"/>
            <a:ext cx="549554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나눔스퀘어 네오 OTF Regular"/>
              </a:rPr>
              <a:t>사용자가 지정한 동일 팝업 ROI 로 표출 · 해제 시각을 각각 확정합니다.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83680" y="2688336"/>
            <a:ext cx="3685032" cy="384048"/>
          </a:xfrm>
          <a:prstGeom prst="roundRect">
            <a:avLst>
              <a:gd name="adj" fmla="val 10000"/>
            </a:avLst>
          </a:prstGeom>
          <a:solidFill>
            <a:srgbClr val="166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583680" y="2688336"/>
            <a:ext cx="3685032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나눔스퀘어 네오 OTF Bold"/>
              </a:rPr>
              <a:t>페달 오조작 안전 보조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583680" y="3163824"/>
            <a:ext cx="3685032" cy="3767328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729984" y="3273552"/>
            <a:ext cx="33924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시나리오 특징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775704" y="3803904"/>
            <a:ext cx="0" cy="1280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775704" y="3931920"/>
            <a:ext cx="128016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812280" y="3767328"/>
            <a:ext cx="128016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6940296" y="3767328"/>
            <a:ext cx="0" cy="1280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6812280" y="3803904"/>
            <a:ext cx="92171" cy="92171"/>
          </a:xfrm>
          <a:prstGeom prst="rect">
            <a:avLst/>
          </a:prstGeom>
          <a:noFill/>
          <a:ln w="1270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059168" y="3712463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기대값 = 고장 팝업이 표출된 화면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59168" y="3950207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고장 팝업이 떠 있는 상태에서 그 영역을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기준 이미지로 등록합니다.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766559" y="4581144"/>
            <a:ext cx="92171" cy="92171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6858000" y="4581144"/>
            <a:ext cx="92171" cy="92171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0" name="Connector 109"/>
          <p:cNvCxnSpPr/>
          <p:nvPr/>
        </p:nvCxnSpPr>
        <p:spPr>
          <a:xfrm>
            <a:off x="6812280" y="4700016"/>
            <a:ext cx="9144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812280" y="4727448"/>
            <a:ext cx="9144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6830568" y="4604004"/>
            <a:ext cx="54864" cy="5486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922008" y="4604004"/>
            <a:ext cx="54864" cy="5486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059168" y="4517136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임계는 두 매칭도 사이로 설정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59168" y="4754879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팝업이 없는 화면과 있는 화면의 매칭도를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각각 확인해 그 중간값으로 정합니다.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93992" y="5449824"/>
            <a:ext cx="127284" cy="92171"/>
          </a:xfrm>
          <a:prstGeom prst="roundRect">
            <a:avLst>
              <a:gd name="adj" fmla="val 12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6821424" y="5413248"/>
            <a:ext cx="0" cy="3657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821424" y="5413248"/>
            <a:ext cx="73152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894576" y="5413248"/>
            <a:ext cx="0" cy="3657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6847027" y="5486400"/>
            <a:ext cx="21945" cy="21945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059168" y="5321807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유지 시간까지 계측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59168" y="5559551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표출 시각에 더해 유지 시간까지 계측합니다.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동일 ROI 에서 표출 · 해제 시각을 각각 확정합니다.</a:t>
            </a:r>
          </a:p>
        </p:txBody>
      </p:sp>
      <p:sp>
        <p:nvSpPr>
          <p:cNvPr id="123" name="Oval 122"/>
          <p:cNvSpPr/>
          <p:nvPr/>
        </p:nvSpPr>
        <p:spPr>
          <a:xfrm>
            <a:off x="6775704" y="6227064"/>
            <a:ext cx="74615" cy="74615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4" name="Connector 123"/>
          <p:cNvCxnSpPr/>
          <p:nvPr/>
        </p:nvCxnSpPr>
        <p:spPr>
          <a:xfrm>
            <a:off x="6848856" y="6263640"/>
            <a:ext cx="91440" cy="0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6903720" y="6263640"/>
            <a:ext cx="0" cy="36576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931152" y="6263640"/>
            <a:ext cx="0" cy="27432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7059168" y="6126480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IG 사이클 반복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059168" y="6364224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시동 조작과 고장 주입을 반복하여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여러 회차의 결과를 누적합니다.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7-3. 법규 별 사용자 시나리오 – NCAP (PCA)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12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긴급제동 상황 발생(CAN) 시 클러스터에 경고 이미지가 제대로 표출되는지를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152144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시험 수행 시나리오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도구 자동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9473184" y="1202436"/>
            <a:ext cx="118872" cy="118872"/>
          </a:xfrm>
          <a:prstGeom prst="rect">
            <a:avLst/>
          </a:prstGeom>
          <a:solidFill>
            <a:srgbClr val="F4F5FA"/>
          </a:solidFill>
          <a:ln w="1143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사용자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7072" y="1202436"/>
            <a:ext cx="118872" cy="118872"/>
          </a:xfrm>
          <a:prstGeom prst="rect">
            <a:avLst/>
          </a:prstGeom>
          <a:solidFill>
            <a:srgbClr val="FFF9E1"/>
          </a:solidFill>
          <a:ln w="1143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624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14399" y="1592961"/>
            <a:ext cx="132588" cy="132588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58214" y="1636776"/>
            <a:ext cx="45720" cy="45720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361084" y="1659636"/>
            <a:ext cx="24765" cy="0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37650" y="1716211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1074" y="1739646"/>
            <a:ext cx="0" cy="24765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206987" y="1716211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176299" y="1659636"/>
            <a:ext cx="24765" cy="0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206987" y="1585548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281074" y="1554861"/>
            <a:ext cx="0" cy="24765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37650" y="1585548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0624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범위 · 장비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Euro / KNCAP 선택
ROI · 임계 지정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2196388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452420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222383" y="1569148"/>
            <a:ext cx="180594" cy="180594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279533" y="1626298"/>
            <a:ext cx="66294" cy="66294"/>
          </a:xfrm>
          <a:prstGeom prst="ellipse">
            <a:avLst/>
          </a:prstGeom>
          <a:solidFill>
            <a:srgbClr val="B87400"/>
          </a:solidFill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52420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측정 시작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2420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정차 상태로
전 구간 영상 · 음향 확보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4228185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484217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282755" y="1597723"/>
            <a:ext cx="123444" cy="12344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5344668" y="1631061"/>
            <a:ext cx="0" cy="42862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338000" y="1688211"/>
            <a:ext cx="13716" cy="13716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5249417" y="1659636"/>
            <a:ext cx="23813" cy="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16105" y="1659636"/>
            <a:ext cx="23813" cy="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44668" y="1564386"/>
            <a:ext cx="0" cy="2381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344668" y="1731073"/>
            <a:ext cx="0" cy="23813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484217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긴급제동 상황 발생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4217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AEB 요청 CAN 신호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6259982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516014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285977" y="1569148"/>
            <a:ext cx="180594" cy="18059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7333602" y="1664398"/>
            <a:ext cx="28575" cy="33338"/>
          </a:xfrm>
          <a:prstGeom prst="line">
            <a:avLst/>
          </a:prstGeom>
          <a:ln w="2286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362177" y="1626298"/>
            <a:ext cx="57150" cy="71438"/>
          </a:xfrm>
          <a:prstGeom prst="line">
            <a:avLst/>
          </a:prstGeom>
          <a:ln w="2286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16014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자동 판정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6014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클러스터 경고 이미지
표출 시각 계측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8291779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547811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332061" y="1569148"/>
            <a:ext cx="141732" cy="180594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9360636" y="162153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60636" y="165963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60636" y="1697736"/>
            <a:ext cx="476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422549" y="1673923"/>
            <a:ext cx="96012" cy="960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9436836" y="1716786"/>
            <a:ext cx="19050" cy="1905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455886" y="1692973"/>
            <a:ext cx="28575" cy="42863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547811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결과 표출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7811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표출 여부 · 시간 간격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" y="2688336"/>
            <a:ext cx="589788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판정 항목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" y="2980944"/>
            <a:ext cx="2359152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0624" y="2980944"/>
            <a:ext cx="235915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계측 구간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79776" y="2980944"/>
            <a:ext cx="2123236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779776" y="2980944"/>
            <a:ext cx="2123236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기대값 (비교 대상)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03012" y="2980944"/>
            <a:ext cx="1415491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03012" y="2980944"/>
            <a:ext cx="1415491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기준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" y="3255263"/>
            <a:ext cx="23591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0624" y="3255263"/>
            <a:ext cx="2359152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긴급제동 CAN 신호 → 클러스터 긴급제동 표시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79776" y="3255263"/>
            <a:ext cx="212323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79776" y="3255263"/>
            <a:ext cx="2123236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B87400"/>
                </a:solidFill>
                <a:latin typeface="나눔스퀘어 네오 OTF Regular"/>
              </a:rPr>
              <a:t>긴급제동 표시 ROI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03012" y="3255263"/>
            <a:ext cx="141549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03012" y="3255263"/>
            <a:ext cx="1415491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C00000"/>
                </a:solidFill>
                <a:latin typeface="나눔스퀘어 네오 OTF Regular"/>
              </a:rPr>
              <a:t>표출 확인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0624" y="3749039"/>
            <a:ext cx="23591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20624" y="3749039"/>
            <a:ext cx="2359152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긴급제동 CAN 신호 → 촉각 경고 (KNCAP)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79776" y="3749039"/>
            <a:ext cx="212323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779776" y="3749039"/>
            <a:ext cx="2123236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262626"/>
                </a:solidFill>
                <a:latin typeface="나눔스퀘어 네오 OTF Regular"/>
              </a:rPr>
              <a:t>피에조 마이크 진동 onset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03012" y="3749039"/>
            <a:ext cx="141549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03012" y="3749039"/>
            <a:ext cx="1415491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C00000"/>
                </a:solidFill>
                <a:latin typeface="나눔스퀘어 네오 OTF Regular"/>
              </a:rPr>
              <a:t>응답 시간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4261103"/>
            <a:ext cx="58978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B87400"/>
                </a:solidFill>
                <a:latin typeface="나눔스퀘어 네오 OTF Regular"/>
              </a:rPr>
              <a:t>주황색 = 사용자가 설정 화면에서 직접 지정한 ROI · 기대음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0624" y="4498848"/>
            <a:ext cx="589788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판정 구조 — CAN 신호부터 표출까지의 시간 간격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4791456"/>
            <a:ext cx="58978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69264" y="5340096"/>
            <a:ext cx="4800600" cy="12801"/>
          </a:xfrm>
          <a:prstGeom prst="rect">
            <a:avLst/>
          </a:prstGeom>
          <a:solidFill>
            <a:srgbClr val="C8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53972" y="5084064"/>
            <a:ext cx="14630" cy="310896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15568" y="5294376"/>
            <a:ext cx="91440" cy="91440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93776" y="4864608"/>
            <a:ext cx="155448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긴급제동 CAN (T0)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170224" y="5084064"/>
            <a:ext cx="14630" cy="310896"/>
          </a:xfrm>
          <a:prstGeom prst="rect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131820" y="5294376"/>
            <a:ext cx="91440" cy="91440"/>
          </a:xfrm>
          <a:prstGeom prst="rect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400300" y="4864608"/>
            <a:ext cx="155448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406FD8"/>
                </a:solidFill>
                <a:latin typeface="나눔스퀘어 네오 OTF Bold"/>
              </a:rPr>
              <a:t>클러스터 경고 표출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14392" y="5084064"/>
            <a:ext cx="14630" cy="31089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475988" y="5294376"/>
            <a:ext cx="91440" cy="9144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4468" y="4864608"/>
            <a:ext cx="155448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FF8327"/>
                </a:solidFill>
                <a:latin typeface="나눔스퀘어 네오 OTF Bold"/>
              </a:rPr>
              <a:t>촉각 진동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61288" y="5541264"/>
            <a:ext cx="2016252" cy="23774"/>
          </a:xfrm>
          <a:prstGeom prst="rect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161288" y="5614416"/>
            <a:ext cx="2016252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406FD8"/>
                </a:solidFill>
                <a:latin typeface="나눔스퀘어 네오 OTF Bold"/>
              </a:rPr>
              <a:t>Δt  시각 경고 표출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161288" y="5815583"/>
            <a:ext cx="3360420" cy="2377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61288" y="5888736"/>
            <a:ext cx="336042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B87400"/>
                </a:solidFill>
                <a:latin typeface="나눔스퀘어 네오 OTF Bold"/>
              </a:rPr>
              <a:t>Δt  촉각 경고 (KNCAP)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85800" y="6227064"/>
            <a:ext cx="54864" cy="100949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96"/>
          <p:cNvCxnSpPr/>
          <p:nvPr/>
        </p:nvCxnSpPr>
        <p:spPr>
          <a:xfrm>
            <a:off x="658368" y="6309360"/>
            <a:ext cx="0" cy="18288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58368" y="6327648"/>
            <a:ext cx="109728" cy="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68096" y="6309360"/>
            <a:ext cx="0" cy="18288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13232" y="6327648"/>
            <a:ext cx="0" cy="4572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76656" y="6373368"/>
            <a:ext cx="73152" cy="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96112" y="6144768"/>
            <a:ext cx="522122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1">
                <a:solidFill>
                  <a:srgbClr val="B87400"/>
                </a:solidFill>
                <a:latin typeface="나눔스퀘어 네오 OTF Bold"/>
              </a:rPr>
              <a:t>촉각 = 스티어링 휠에 피에조(접촉식) 마이크를 부착해 진동을 오디오 파형으로 수음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응답 시간 계측에는 충분하며, 진동 강도(G) · 주파수(Hz) 정량화가 요구되면 가속도 센서로 고도화합니다.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583680" y="2688336"/>
            <a:ext cx="3685032" cy="384048"/>
          </a:xfrm>
          <a:prstGeom prst="roundRect">
            <a:avLst>
              <a:gd name="adj" fmla="val 10000"/>
            </a:avLst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583680" y="2688336"/>
            <a:ext cx="3685032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나눔스퀘어 네오 OTF Bold"/>
              </a:rPr>
              <a:t>긴급제동 전 충돌 경고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583680" y="3145536"/>
            <a:ext cx="368503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6693408" y="3255264"/>
            <a:ext cx="155448" cy="155448"/>
          </a:xfrm>
          <a:prstGeom prst="ellipse">
            <a:avLst/>
          </a:prstGeom>
          <a:solidFill>
            <a:srgbClr val="3E8853"/>
          </a:solidFill>
          <a:ln w="17780">
            <a:solidFill>
              <a:srgbClr val="3E8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7" name="Connector 106"/>
          <p:cNvCxnSpPr/>
          <p:nvPr/>
        </p:nvCxnSpPr>
        <p:spPr>
          <a:xfrm>
            <a:off x="6729984" y="3332988"/>
            <a:ext cx="32004" cy="36576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761988" y="3291840"/>
            <a:ext cx="54864" cy="77724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912864" y="3218688"/>
            <a:ext cx="1476756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3E8853"/>
                </a:solidFill>
                <a:latin typeface="나눔스퀘어 네오 OTF Bold"/>
              </a:rPr>
              <a:t>Euro NCAP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12864" y="3383280"/>
            <a:ext cx="1476756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기본 수행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430768" y="3259836"/>
            <a:ext cx="141732" cy="141732"/>
          </a:xfrm>
          <a:prstGeom prst="rect">
            <a:avLst/>
          </a:prstGeom>
          <a:noFill/>
          <a:ln w="1397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645652" y="3218688"/>
            <a:ext cx="1476756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8C8C8C"/>
                </a:solidFill>
                <a:latin typeface="나눔스퀘어 네오 OTF Bold"/>
              </a:rPr>
              <a:t>KNCAP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45652" y="3383280"/>
            <a:ext cx="1476756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촉각 경고 추가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711696" y="3657600"/>
            <a:ext cx="3429000" cy="21945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KNCAP 은 Euro NCAP 을 포함 — 선택 시 촉각 경고 항목이 추가됩니다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583680" y="4005072"/>
            <a:ext cx="3685032" cy="2926080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729984" y="4114800"/>
            <a:ext cx="33924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시나리오 특징</a:t>
            </a:r>
          </a:p>
        </p:txBody>
      </p:sp>
      <p:cxnSp>
        <p:nvCxnSpPr>
          <p:cNvPr id="117" name="Connector 116"/>
          <p:cNvCxnSpPr/>
          <p:nvPr/>
        </p:nvCxnSpPr>
        <p:spPr>
          <a:xfrm flipH="1">
            <a:off x="6812280" y="4494276"/>
            <a:ext cx="59436" cy="100584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812280" y="4594860"/>
            <a:ext cx="45720" cy="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6835140" y="4594860"/>
            <a:ext cx="22860" cy="82296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835140" y="4567428"/>
            <a:ext cx="68580" cy="109728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6858000" y="4567428"/>
            <a:ext cx="45720" cy="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58000" y="4494276"/>
            <a:ext cx="13716" cy="73152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7059168" y="4448556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CAN 신호가 기준점, 경고 ROI 가 기대값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059168" y="4686300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AEB 요청 신호 시점부터 사용자가 지정한 경고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표시 영역이 나타날 때까지를 계측합니다.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830568" y="5097780"/>
            <a:ext cx="54864" cy="100949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6" name="Connector 125"/>
          <p:cNvCxnSpPr/>
          <p:nvPr/>
        </p:nvCxnSpPr>
        <p:spPr>
          <a:xfrm>
            <a:off x="6803136" y="5180076"/>
            <a:ext cx="0" cy="18288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803136" y="5198364"/>
            <a:ext cx="109728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912864" y="5180076"/>
            <a:ext cx="0" cy="18288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6858000" y="5198364"/>
            <a:ext cx="0" cy="4572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6821424" y="5244084"/>
            <a:ext cx="73152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7059168" y="5042916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촉각 = 피에조(접촉식) 마이크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059168" y="5280660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공기 중 소리가 아니라 스티어링 휠의 표면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진동을 오디오 파형으로 직접 변환합니다.</a:t>
            </a:r>
          </a:p>
        </p:txBody>
      </p:sp>
      <p:sp>
        <p:nvSpPr>
          <p:cNvPr id="133" name="Oval 132"/>
          <p:cNvSpPr/>
          <p:nvPr/>
        </p:nvSpPr>
        <p:spPr>
          <a:xfrm>
            <a:off x="6771132" y="5719572"/>
            <a:ext cx="100949" cy="100949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6844284" y="5719572"/>
            <a:ext cx="100949" cy="100949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5" name="Connector 134"/>
          <p:cNvCxnSpPr/>
          <p:nvPr/>
        </p:nvCxnSpPr>
        <p:spPr>
          <a:xfrm>
            <a:off x="6858000" y="5852160"/>
            <a:ext cx="0" cy="18288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7059168" y="5637276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기존 음향 채널을 그대로 사용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059168" y="5875020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마이크 입력 · 파형 분석 경로를 재사용하므로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별도 진동 계측 장비(DAQ)가 필요 없습니다.</a:t>
            </a:r>
          </a:p>
        </p:txBody>
      </p:sp>
      <p:cxnSp>
        <p:nvCxnSpPr>
          <p:cNvPr id="138" name="Connector 137"/>
          <p:cNvCxnSpPr/>
          <p:nvPr/>
        </p:nvCxnSpPr>
        <p:spPr>
          <a:xfrm flipH="1">
            <a:off x="6771132" y="6286500"/>
            <a:ext cx="86868" cy="155448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771132" y="6441948"/>
            <a:ext cx="173736" cy="0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6858000" y="6286500"/>
            <a:ext cx="86868" cy="155448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858000" y="6341364"/>
            <a:ext cx="0" cy="54864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6850684" y="6410858"/>
            <a:ext cx="15361" cy="15361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059168" y="6231636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계측 범위 확인 필요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059168" y="6469380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고객 CAN DB 에 「CAN 트리거만 계측」으로 기재.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영상 기반 계측 포함 여부 협의가 필요합니다.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9714804-88B6-453D-8355-E11AF7C6CDE9}"/>
              </a:ext>
            </a:extLst>
          </p:cNvPr>
          <p:cNvSpPr/>
          <p:nvPr/>
        </p:nvSpPr>
        <p:spPr>
          <a:xfrm>
            <a:off x="8399525" y="1066210"/>
            <a:ext cx="1572221" cy="55889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2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41329-DEE5-4235-8B95-399D0ED9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향후 일정 – 개발 일정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2E998A-4497-4EA7-8D8C-4B8C39B2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2952" y="7159752"/>
            <a:ext cx="448056" cy="402336"/>
          </a:xfrm>
        </p:spPr>
        <p:txBody>
          <a:bodyPr/>
          <a:lstStyle/>
          <a:p>
            <a:fld id="{5BCDA562-D163-4743-A5E0-EF338EDE3E78}" type="slidenum">
              <a:rPr lang="en-US" altLang="ko-KR" smtClean="0"/>
              <a:pPr/>
              <a:t>13</a:t>
            </a:fld>
            <a:endParaRPr lang="en-US" altLang="ko-KR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92CEE74-C0C3-4996-86DB-25365543DF6C}"/>
              </a:ext>
            </a:extLst>
          </p:cNvPr>
          <p:cNvGraphicFramePr>
            <a:graphicFrameLocks noGrp="1"/>
          </p:cNvGraphicFramePr>
          <p:nvPr/>
        </p:nvGraphicFramePr>
        <p:xfrm>
          <a:off x="668386" y="1724377"/>
          <a:ext cx="9368420" cy="46582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7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8026">
                  <a:extLst>
                    <a:ext uri="{9D8B030D-6E8A-4147-A177-3AD203B41FA5}">
                      <a16:colId xmlns:a16="http://schemas.microsoft.com/office/drawing/2014/main" val="3866089966"/>
                    </a:ext>
                  </a:extLst>
                </a:gridCol>
                <a:gridCol w="540030">
                  <a:extLst>
                    <a:ext uri="{9D8B030D-6E8A-4147-A177-3AD203B41FA5}">
                      <a16:colId xmlns:a16="http://schemas.microsoft.com/office/drawing/2014/main" val="2521655340"/>
                    </a:ext>
                  </a:extLst>
                </a:gridCol>
                <a:gridCol w="535485">
                  <a:extLst>
                    <a:ext uri="{9D8B030D-6E8A-4147-A177-3AD203B41FA5}">
                      <a16:colId xmlns:a16="http://schemas.microsoft.com/office/drawing/2014/main" val="1947287447"/>
                    </a:ext>
                  </a:extLst>
                </a:gridCol>
                <a:gridCol w="535485">
                  <a:extLst>
                    <a:ext uri="{9D8B030D-6E8A-4147-A177-3AD203B41FA5}">
                      <a16:colId xmlns:a16="http://schemas.microsoft.com/office/drawing/2014/main" val="1849050646"/>
                    </a:ext>
                  </a:extLst>
                </a:gridCol>
                <a:gridCol w="535485">
                  <a:extLst>
                    <a:ext uri="{9D8B030D-6E8A-4147-A177-3AD203B41FA5}">
                      <a16:colId xmlns:a16="http://schemas.microsoft.com/office/drawing/2014/main" val="2286495395"/>
                    </a:ext>
                  </a:extLst>
                </a:gridCol>
                <a:gridCol w="535485">
                  <a:extLst>
                    <a:ext uri="{9D8B030D-6E8A-4147-A177-3AD203B41FA5}">
                      <a16:colId xmlns:a16="http://schemas.microsoft.com/office/drawing/2014/main" val="2315823432"/>
                    </a:ext>
                  </a:extLst>
                </a:gridCol>
                <a:gridCol w="535485">
                  <a:extLst>
                    <a:ext uri="{9D8B030D-6E8A-4147-A177-3AD203B41FA5}">
                      <a16:colId xmlns:a16="http://schemas.microsoft.com/office/drawing/2014/main" val="3364712774"/>
                    </a:ext>
                  </a:extLst>
                </a:gridCol>
                <a:gridCol w="535485">
                  <a:extLst>
                    <a:ext uri="{9D8B030D-6E8A-4147-A177-3AD203B41FA5}">
                      <a16:colId xmlns:a16="http://schemas.microsoft.com/office/drawing/2014/main" val="2254841085"/>
                    </a:ext>
                  </a:extLst>
                </a:gridCol>
              </a:tblGrid>
              <a:tr h="3895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구분</a:t>
                      </a:r>
                      <a:endParaRPr lang="ko-KR" altLang="en-US" sz="1100" b="1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내용</a:t>
                      </a:r>
                      <a:endParaRPr lang="ko-KR" altLang="en-US" sz="1100" b="1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</a:t>
                      </a:r>
                      <a:endParaRPr lang="ko-KR" altLang="en-US" sz="1000" b="1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7</a:t>
                      </a:r>
                      <a:endParaRPr lang="ko-KR" altLang="en-US" sz="1000" b="1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8</a:t>
                      </a:r>
                      <a:endParaRPr lang="ko-KR" altLang="en-US" sz="1000" b="1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9</a:t>
                      </a:r>
                      <a:endParaRPr lang="ko-KR" altLang="en-US" sz="1000" b="1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10</a:t>
                      </a:r>
                      <a:endParaRPr lang="ko-KR" altLang="en-US" sz="1000" b="1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11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12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480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요구사항 분석 </a:t>
                      </a:r>
                      <a:r>
                        <a:rPr lang="en-US" altLang="ko-KR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</a:t>
                      </a:r>
                      <a:r>
                        <a:rPr lang="ko-KR" altLang="en-US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설계</a:t>
                      </a:r>
                      <a:endParaRPr lang="ko-KR" altLang="en-US" sz="1000" b="0" baseline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요구사항 구체화 및 기능 시나리오</a:t>
                      </a:r>
                      <a:r>
                        <a:rPr lang="en-US" altLang="ko-KR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화면 설계</a:t>
                      </a:r>
                      <a:endParaRPr lang="en-US" altLang="ko-KR" sz="1000" b="0" baseline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구조 설계</a:t>
                      </a:r>
                      <a:endParaRPr lang="en-US" altLang="ko-KR" sz="1000" b="0" baseline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검증엔진 설계</a:t>
                      </a: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685">
                <a:tc rowSpan="3"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시험 데이터 취득 </a:t>
                      </a:r>
                      <a:r>
                        <a:rPr lang="en-US" altLang="ko-KR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</a:t>
                      </a: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전처리 개발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영상 데이터 취득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/Image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Processing</a:t>
                      </a: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685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6000" marR="3600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음향 데이터 취득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전처리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(normalize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등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)</a:t>
                      </a:r>
                    </a:p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음향 분석 탐지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34706"/>
                  </a:ext>
                </a:extLst>
              </a:tr>
              <a:tr h="404685">
                <a:tc vMerge="1"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6000" marR="3600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입력 데이터 시간 동기화 및 최적화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513546"/>
                  </a:ext>
                </a:extLst>
              </a:tr>
              <a:tr h="404685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R175 </a:t>
                      </a: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검증기 개발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시험 시나리오 검증 자동화 기능 개발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103062"/>
                  </a:ext>
                </a:extLst>
              </a:tr>
              <a:tr h="414436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NCAP </a:t>
                      </a: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검증기 개발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시험 시나리오 검증 자동화 기능 개발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56530"/>
                  </a:ext>
                </a:extLst>
              </a:tr>
              <a:tr h="414436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R158 </a:t>
                      </a: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검증기 개발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시험 시나리오 검증 자동화 기능 개발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법규 인증 포인트 별 시험 결과 시각화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63420"/>
                  </a:ext>
                </a:extLst>
              </a:tr>
              <a:tr h="414436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보고서 생성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인증 포인트 별 시험 결과 리포트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시험 시점 입력 데이터 추출 및 엑셀 보고서 생성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974002"/>
                  </a:ext>
                </a:extLst>
              </a:tr>
              <a:tr h="414436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내부 통합 시험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샘플 데이터 베타 테스트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473173"/>
                  </a:ext>
                </a:extLst>
              </a:tr>
              <a:tr h="414436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배포 및 현장 적용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실제 현장 기능 테스트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07829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FE0D71B-0571-4E7C-9D9B-085B2A168380}"/>
              </a:ext>
            </a:extLst>
          </p:cNvPr>
          <p:cNvCxnSpPr>
            <a:cxnSpLocks/>
          </p:cNvCxnSpPr>
          <p:nvPr/>
        </p:nvCxnSpPr>
        <p:spPr>
          <a:xfrm>
            <a:off x="7116830" y="3294548"/>
            <a:ext cx="774936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4175B80-4E3E-4192-B77A-CDA594C170C6}"/>
              </a:ext>
            </a:extLst>
          </p:cNvPr>
          <p:cNvCxnSpPr>
            <a:cxnSpLocks/>
          </p:cNvCxnSpPr>
          <p:nvPr/>
        </p:nvCxnSpPr>
        <p:spPr>
          <a:xfrm>
            <a:off x="7891766" y="3707514"/>
            <a:ext cx="342841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AAB357C-6E9B-42D9-9F2B-B75157B31294}"/>
              </a:ext>
            </a:extLst>
          </p:cNvPr>
          <p:cNvCxnSpPr>
            <a:cxnSpLocks/>
          </p:cNvCxnSpPr>
          <p:nvPr/>
        </p:nvCxnSpPr>
        <p:spPr>
          <a:xfrm>
            <a:off x="7361392" y="4111414"/>
            <a:ext cx="838361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469402B-16B1-4557-A822-A465B545E108}"/>
              </a:ext>
            </a:extLst>
          </p:cNvPr>
          <p:cNvCxnSpPr>
            <a:cxnSpLocks/>
          </p:cNvCxnSpPr>
          <p:nvPr/>
        </p:nvCxnSpPr>
        <p:spPr>
          <a:xfrm>
            <a:off x="8733761" y="5763869"/>
            <a:ext cx="500757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A2EA946-CE5B-4613-A98B-386453FB2AE0}"/>
              </a:ext>
            </a:extLst>
          </p:cNvPr>
          <p:cNvCxnSpPr>
            <a:cxnSpLocks/>
          </p:cNvCxnSpPr>
          <p:nvPr/>
        </p:nvCxnSpPr>
        <p:spPr>
          <a:xfrm>
            <a:off x="8536020" y="1230166"/>
            <a:ext cx="335312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55CA272-D828-4EED-81DC-A1AEA87129E5}"/>
              </a:ext>
            </a:extLst>
          </p:cNvPr>
          <p:cNvSpPr txBox="1"/>
          <p:nvPr/>
        </p:nvSpPr>
        <p:spPr>
          <a:xfrm>
            <a:off x="8996001" y="1064697"/>
            <a:ext cx="925253" cy="2841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ko-KR" altLang="en-US" sz="110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개발 및 시험</a:t>
            </a:r>
            <a:endParaRPr lang="ko-KR" altLang="en-US" sz="110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1333EAA-1CC0-48DA-98B4-3C4121869B84}"/>
              </a:ext>
            </a:extLst>
          </p:cNvPr>
          <p:cNvCxnSpPr>
            <a:cxnSpLocks/>
          </p:cNvCxnSpPr>
          <p:nvPr/>
        </p:nvCxnSpPr>
        <p:spPr>
          <a:xfrm>
            <a:off x="6691588" y="2413258"/>
            <a:ext cx="667548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C72753E-39E7-4B3E-9175-F105D4F0E834}"/>
              </a:ext>
            </a:extLst>
          </p:cNvPr>
          <p:cNvSpPr txBox="1"/>
          <p:nvPr/>
        </p:nvSpPr>
        <p:spPr>
          <a:xfrm>
            <a:off x="6224742" y="1685104"/>
            <a:ext cx="445956" cy="188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en-US" sz="55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2026</a:t>
            </a:r>
            <a:r>
              <a:rPr lang="ko-KR" altLang="en-US" sz="55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년</a:t>
            </a:r>
            <a:endParaRPr lang="en-US" sz="551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CA4EAF0-CD08-4C2C-92BF-06278948B29A}"/>
              </a:ext>
            </a:extLst>
          </p:cNvPr>
          <p:cNvCxnSpPr>
            <a:cxnSpLocks/>
          </p:cNvCxnSpPr>
          <p:nvPr/>
        </p:nvCxnSpPr>
        <p:spPr>
          <a:xfrm>
            <a:off x="6687165" y="2120908"/>
            <a:ext cx="6259" cy="4695345"/>
          </a:xfrm>
          <a:prstGeom prst="line">
            <a:avLst/>
          </a:prstGeom>
          <a:ln w="9525">
            <a:solidFill>
              <a:schemeClr val="accent3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B1EDB70E-0F97-4212-9D94-1749537CEEBA}"/>
              </a:ext>
            </a:extLst>
          </p:cNvPr>
          <p:cNvCxnSpPr>
            <a:cxnSpLocks/>
          </p:cNvCxnSpPr>
          <p:nvPr/>
        </p:nvCxnSpPr>
        <p:spPr>
          <a:xfrm>
            <a:off x="9748870" y="2120315"/>
            <a:ext cx="0" cy="4662618"/>
          </a:xfrm>
          <a:prstGeom prst="line">
            <a:avLst/>
          </a:prstGeom>
          <a:ln w="9525">
            <a:solidFill>
              <a:schemeClr val="accent3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B3F4083-588C-47A8-83F9-079BC4E0EABD}"/>
              </a:ext>
            </a:extLst>
          </p:cNvPr>
          <p:cNvCxnSpPr>
            <a:cxnSpLocks/>
          </p:cNvCxnSpPr>
          <p:nvPr/>
        </p:nvCxnSpPr>
        <p:spPr>
          <a:xfrm>
            <a:off x="9246480" y="6175919"/>
            <a:ext cx="489299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A78CE22-BC2C-41E9-A12D-4B690D28B73D}"/>
              </a:ext>
            </a:extLst>
          </p:cNvPr>
          <p:cNvSpPr txBox="1">
            <a:spLocks noChangeAspect="1"/>
          </p:cNvSpPr>
          <p:nvPr/>
        </p:nvSpPr>
        <p:spPr>
          <a:xfrm>
            <a:off x="662358" y="662633"/>
            <a:ext cx="7537035" cy="261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731" lvl="1" indent="-158731" defTabSz="1007943" latinLnBrk="1">
              <a:lnSpc>
                <a:spcPct val="80000"/>
              </a:lnSpc>
              <a:spcBef>
                <a:spcPts val="661"/>
              </a:spcBef>
              <a:spcAft>
                <a:spcPts val="441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323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프로젝트 기간 </a:t>
            </a:r>
            <a:r>
              <a:rPr lang="en-US" altLang="ko-KR" sz="1323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: 2026.7.01 ~ 2026.12.15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93B1DC90-B12D-4E01-BE94-2DE5E7FF141C}"/>
              </a:ext>
            </a:extLst>
          </p:cNvPr>
          <p:cNvCxnSpPr>
            <a:cxnSpLocks/>
          </p:cNvCxnSpPr>
          <p:nvPr/>
        </p:nvCxnSpPr>
        <p:spPr>
          <a:xfrm>
            <a:off x="8562202" y="1478298"/>
            <a:ext cx="335312" cy="0"/>
          </a:xfrm>
          <a:prstGeom prst="line">
            <a:avLst/>
          </a:prstGeom>
          <a:ln w="9525">
            <a:solidFill>
              <a:schemeClr val="accent3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F1581A6-84A6-4656-8393-F2DE5589BA20}"/>
              </a:ext>
            </a:extLst>
          </p:cNvPr>
          <p:cNvSpPr txBox="1"/>
          <p:nvPr/>
        </p:nvSpPr>
        <p:spPr>
          <a:xfrm>
            <a:off x="8996000" y="1331495"/>
            <a:ext cx="723275" cy="2841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ko-KR" altLang="en-US" sz="110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마일스톤</a:t>
            </a:r>
            <a:endParaRPr lang="ko-KR" altLang="en-US" sz="110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345CF6E3-26F6-4EEC-81A7-458F7019FF80}"/>
              </a:ext>
            </a:extLst>
          </p:cNvPr>
          <p:cNvCxnSpPr>
            <a:cxnSpLocks/>
          </p:cNvCxnSpPr>
          <p:nvPr/>
        </p:nvCxnSpPr>
        <p:spPr>
          <a:xfrm>
            <a:off x="8284688" y="5361388"/>
            <a:ext cx="449072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DCEA1FE-5E25-403F-A86C-A77FF2096897}"/>
              </a:ext>
            </a:extLst>
          </p:cNvPr>
          <p:cNvCxnSpPr>
            <a:cxnSpLocks/>
          </p:cNvCxnSpPr>
          <p:nvPr/>
        </p:nvCxnSpPr>
        <p:spPr>
          <a:xfrm>
            <a:off x="7663615" y="4517397"/>
            <a:ext cx="762093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4D18554-187E-4E12-A810-784665DE3A76}"/>
              </a:ext>
            </a:extLst>
          </p:cNvPr>
          <p:cNvCxnSpPr>
            <a:cxnSpLocks/>
          </p:cNvCxnSpPr>
          <p:nvPr/>
        </p:nvCxnSpPr>
        <p:spPr>
          <a:xfrm flipH="1">
            <a:off x="9237809" y="2120315"/>
            <a:ext cx="19637" cy="4665345"/>
          </a:xfrm>
          <a:prstGeom prst="line">
            <a:avLst/>
          </a:prstGeom>
          <a:ln w="9525">
            <a:solidFill>
              <a:schemeClr val="accent3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C3E9E0F-FF60-4C38-B09C-896B568F7F74}"/>
              </a:ext>
            </a:extLst>
          </p:cNvPr>
          <p:cNvCxnSpPr>
            <a:cxnSpLocks/>
          </p:cNvCxnSpPr>
          <p:nvPr/>
        </p:nvCxnSpPr>
        <p:spPr>
          <a:xfrm>
            <a:off x="6826445" y="2904315"/>
            <a:ext cx="837170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03C4DAE-8FBF-4280-905C-43313252F6F7}"/>
              </a:ext>
            </a:extLst>
          </p:cNvPr>
          <p:cNvCxnSpPr>
            <a:cxnSpLocks/>
          </p:cNvCxnSpPr>
          <p:nvPr/>
        </p:nvCxnSpPr>
        <p:spPr>
          <a:xfrm>
            <a:off x="7891766" y="4929923"/>
            <a:ext cx="841994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1370B6CF-E491-4D77-BD50-8F491A803236}"/>
              </a:ext>
            </a:extLst>
          </p:cNvPr>
          <p:cNvCxnSpPr>
            <a:cxnSpLocks/>
          </p:cNvCxnSpPr>
          <p:nvPr/>
        </p:nvCxnSpPr>
        <p:spPr>
          <a:xfrm>
            <a:off x="7320749" y="2120315"/>
            <a:ext cx="6259" cy="4695345"/>
          </a:xfrm>
          <a:prstGeom prst="line">
            <a:avLst/>
          </a:prstGeom>
          <a:ln w="9525">
            <a:solidFill>
              <a:schemeClr val="accent3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B00EFDD-2154-41AF-AD24-F7944FC375B1}"/>
              </a:ext>
            </a:extLst>
          </p:cNvPr>
          <p:cNvSpPr txBox="1"/>
          <p:nvPr/>
        </p:nvSpPr>
        <p:spPr>
          <a:xfrm>
            <a:off x="6391500" y="6782933"/>
            <a:ext cx="384910" cy="1744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19842" tIns="19842" rIns="19842" bIns="19842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61"/>
              </a:spcAft>
            </a:pPr>
            <a:r>
              <a:rPr lang="ko-KR" altLang="en-US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킥오프</a:t>
            </a:r>
            <a:endParaRPr lang="en-US" altLang="ko-KR" sz="772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32873B-ACCB-4762-8003-277BD4DED393}"/>
              </a:ext>
            </a:extLst>
          </p:cNvPr>
          <p:cNvSpPr txBox="1"/>
          <p:nvPr/>
        </p:nvSpPr>
        <p:spPr>
          <a:xfrm>
            <a:off x="9499256" y="6782933"/>
            <a:ext cx="525411" cy="1744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19842" tIns="19842" rIns="19842" bIns="19842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61"/>
              </a:spcAft>
            </a:pPr>
            <a:r>
              <a:rPr lang="ko-KR" altLang="en-US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완료보고</a:t>
            </a:r>
            <a:endParaRPr lang="ko-KR" altLang="en-US" sz="77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EF335B-E109-4FF6-9512-E6CCF33067F7}"/>
              </a:ext>
            </a:extLst>
          </p:cNvPr>
          <p:cNvSpPr txBox="1"/>
          <p:nvPr/>
        </p:nvSpPr>
        <p:spPr>
          <a:xfrm>
            <a:off x="8835198" y="6782933"/>
            <a:ext cx="630929" cy="3170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19842" tIns="19842" rIns="19842" bIns="19842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61"/>
              </a:spcAft>
            </a:pPr>
            <a:r>
              <a:rPr lang="ko-KR" altLang="en-US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시험 완료</a:t>
            </a:r>
            <a:br>
              <a:rPr lang="en-US" altLang="ko-KR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</a:br>
            <a:r>
              <a:rPr lang="ko-KR" altLang="en-US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베타버전 배포</a:t>
            </a:r>
            <a:endParaRPr lang="en-US" altLang="ko-KR" sz="772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7B9A6FB-4DDB-419C-8ED0-41540ADF6643}"/>
              </a:ext>
            </a:extLst>
          </p:cNvPr>
          <p:cNvSpPr txBox="1"/>
          <p:nvPr/>
        </p:nvSpPr>
        <p:spPr>
          <a:xfrm>
            <a:off x="7046091" y="6782933"/>
            <a:ext cx="617523" cy="3170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19842" tIns="19842" rIns="19842" bIns="19842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61"/>
              </a:spcAft>
            </a:pPr>
            <a:r>
              <a:rPr lang="ko-KR" altLang="en-US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사용시나리오설계 리뷰</a:t>
            </a:r>
            <a:endParaRPr lang="en-US" altLang="ko-KR" sz="772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F99CDB6-4DAA-4F36-A84F-F35C154E063F}"/>
              </a:ext>
            </a:extLst>
          </p:cNvPr>
          <p:cNvSpPr/>
          <p:nvPr/>
        </p:nvSpPr>
        <p:spPr>
          <a:xfrm>
            <a:off x="6290866" y="2120315"/>
            <a:ext cx="384910" cy="4257995"/>
          </a:xfrm>
          <a:prstGeom prst="rect">
            <a:avLst/>
          </a:prstGeom>
          <a:solidFill>
            <a:schemeClr val="bg1">
              <a:lumMod val="7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6406616-0386-481C-B80C-5AB6BFBE1F30}"/>
              </a:ext>
            </a:extLst>
          </p:cNvPr>
          <p:cNvSpPr/>
          <p:nvPr/>
        </p:nvSpPr>
        <p:spPr>
          <a:xfrm>
            <a:off x="9770439" y="2120315"/>
            <a:ext cx="252987" cy="4257995"/>
          </a:xfrm>
          <a:prstGeom prst="rect">
            <a:avLst/>
          </a:prstGeom>
          <a:solidFill>
            <a:schemeClr val="bg1">
              <a:lumMod val="7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F07EF08-FB3B-473A-B7DB-7CA043A57CF4}"/>
              </a:ext>
            </a:extLst>
          </p:cNvPr>
          <p:cNvCxnSpPr>
            <a:cxnSpLocks/>
          </p:cNvCxnSpPr>
          <p:nvPr/>
        </p:nvCxnSpPr>
        <p:spPr>
          <a:xfrm flipH="1">
            <a:off x="8732576" y="2117588"/>
            <a:ext cx="19637" cy="4665345"/>
          </a:xfrm>
          <a:prstGeom prst="line">
            <a:avLst/>
          </a:prstGeom>
          <a:ln w="9525">
            <a:solidFill>
              <a:schemeClr val="accent3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612A437-F52E-49F5-A967-6639199D7AF1}"/>
              </a:ext>
            </a:extLst>
          </p:cNvPr>
          <p:cNvSpPr txBox="1"/>
          <p:nvPr/>
        </p:nvSpPr>
        <p:spPr>
          <a:xfrm>
            <a:off x="8327548" y="6780206"/>
            <a:ext cx="475098" cy="1744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19842" tIns="19842" rIns="19842" bIns="19842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61"/>
              </a:spcAft>
            </a:pPr>
            <a:r>
              <a:rPr lang="ko-KR" altLang="en-US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개발 완료</a:t>
            </a:r>
            <a:endParaRPr lang="en-US" altLang="ko-KR" sz="772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9308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221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슈어소프트테크">
      <a:dk1>
        <a:sysClr val="windowText" lastClr="000000"/>
      </a:dk1>
      <a:lt1>
        <a:sysClr val="window" lastClr="FFFFFF"/>
      </a:lt1>
      <a:dk2>
        <a:srgbClr val="002878"/>
      </a:dk2>
      <a:lt2>
        <a:srgbClr val="E7E6E6"/>
      </a:lt2>
      <a:accent1>
        <a:srgbClr val="406FD8"/>
      </a:accent1>
      <a:accent2>
        <a:srgbClr val="3E8853"/>
      </a:accent2>
      <a:accent3>
        <a:srgbClr val="FFCA08"/>
      </a:accent3>
      <a:accent4>
        <a:srgbClr val="FF8327"/>
      </a:accent4>
      <a:accent5>
        <a:srgbClr val="D32619"/>
      </a:accent5>
      <a:accent6>
        <a:srgbClr val="510CE6"/>
      </a:accent6>
      <a:hlink>
        <a:srgbClr val="467886"/>
      </a:hlink>
      <a:folHlink>
        <a:srgbClr val="96607D"/>
      </a:folHlink>
    </a:clrScheme>
    <a:fontScheme name="사용자 지정 7">
      <a:majorFont>
        <a:latin typeface="나눔스퀘어 네오 OTF Bold"/>
        <a:ea typeface="나눔스퀘어 네오 OTF Bold"/>
        <a:cs typeface=""/>
      </a:majorFont>
      <a:minorFont>
        <a:latin typeface="나눔스퀘어 네오 OTF Bold"/>
        <a:ea typeface="나눔스퀘어 네오 OTF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spcAft>
            <a:spcPts val="600"/>
          </a:spcAft>
          <a:defRPr sz="1000" dirty="0" smtClean="0">
            <a:latin typeface="나눔스퀘어 네오 OTF Bold" panose="00000500000000000000" pitchFamily="50" charset="-127"/>
            <a:ea typeface="나눔스퀘어 네오 OTF Bold" panose="00000500000000000000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나눔스퀘어 네오 OTF Bold" panose="02110004020202020204"/>
        <a:ea typeface=""/>
        <a:cs typeface=""/>
        <a:font script="Jpan" typeface="나눔스퀘어 네오 OTF Bold"/>
        <a:font script="Hang" typeface="나눔스퀘어 네오 OTF Bold"/>
        <a:font script="Hans" typeface="나눔스퀘어 네오 OTF Bold"/>
        <a:font script="Hant" typeface="나눔스퀘어 네오 OTF Bold"/>
        <a:font script="Arab" typeface="나눔스퀘어 네오 OTF Bold"/>
        <a:font script="Hebr" typeface="나눔스퀘어 네오 OTF Bold"/>
        <a:font script="Thai" typeface="나눔스퀘어 네오 OTF Bold"/>
        <a:font script="Ethi" typeface="나눔스퀘어 네오 OTF Bold"/>
        <a:font script="Beng" typeface="나눔스퀘어 네오 OTF Bold"/>
        <a:font script="Gujr" typeface="나눔스퀘어 네오 OTF Bold"/>
        <a:font script="Khmr" typeface="나눔스퀘어 네오 OTF Bold"/>
        <a:font script="Knda" typeface="나눔스퀘어 네오 OTF Bold"/>
        <a:font script="Guru" typeface="나눔스퀘어 네오 OTF Bold"/>
        <a:font script="Cans" typeface="나눔스퀘어 네오 OTF Bold"/>
        <a:font script="Cher" typeface="나눔스퀘어 네오 OTF Bold"/>
        <a:font script="Yiii" typeface="나눔스퀘어 네오 OTF Bold"/>
        <a:font script="Tibt" typeface="나눔스퀘어 네오 OTF Bold"/>
        <a:font script="Thaa" typeface="나눔스퀘어 네오 OTF Bold"/>
        <a:font script="Deva" typeface="나눔스퀘어 네오 OTF Bold"/>
        <a:font script="Telu" typeface="나눔스퀘어 네오 OTF Bold"/>
        <a:font script="Taml" typeface="나눔스퀘어 네오 OTF Bold"/>
        <a:font script="Syrc" typeface="나눔스퀘어 네오 OTF Bold"/>
        <a:font script="Orya" typeface="나눔스퀘어 네오 OTF Bold"/>
        <a:font script="Mlym" typeface="나눔스퀘어 네오 OTF Bold"/>
        <a:font script="Laoo" typeface="나눔스퀘어 네오 OTF Bold"/>
        <a:font script="Sinh" typeface="나눔스퀘어 네오 OTF Bold"/>
        <a:font script="Mong" typeface="나눔스퀘어 네오 OTF Bold"/>
        <a:font script="Viet" typeface="나눔스퀘어 네오 OTF Bold"/>
        <a:font script="Uigh" typeface="나눔스퀘어 네오 OTF Bold"/>
        <a:font script="Geor" typeface="나눔스퀘어 네오 OTF Bold"/>
        <a:font script="Armn" typeface="나눔스퀘어 네오 OTF Bold"/>
        <a:font script="Bugi" typeface="나눔스퀘어 네오 OTF Bold"/>
        <a:font script="Bopo" typeface="나눔스퀘어 네오 OTF Bold"/>
        <a:font script="Java" typeface="나눔스퀘어 네오 OTF Bold"/>
        <a:font script="Lisu" typeface="나눔스퀘어 네오 OTF Bold"/>
        <a:font script="Mymr" typeface="나눔스퀘어 네오 OTF Bold"/>
        <a:font script="Nkoo" typeface="나눔스퀘어 네오 OTF Bold"/>
        <a:font script="Olck" typeface="나눔스퀘어 네오 OTF Bold"/>
        <a:font script="Osma" typeface="나눔스퀘어 네오 OTF Bold"/>
        <a:font script="Phag" typeface="나눔스퀘어 네오 OTF Bold"/>
        <a:font script="Syrn" typeface="나눔스퀘어 네오 OTF Bold"/>
        <a:font script="Syrj" typeface="나눔스퀘어 네오 OTF Bold"/>
        <a:font script="Syre" typeface="나눔스퀘어 네오 OTF Bold"/>
        <a:font script="Sora" typeface="나눔스퀘어 네오 OTF Bold"/>
        <a:font script="Tale" typeface="나눔스퀘어 네오 OTF Bold"/>
        <a:font script="Talu" typeface="나눔스퀘어 네오 OTF Bold"/>
        <a:font script="Tfng" typeface="나눔스퀘어 네오 OTF Bold"/>
      </a:majorFont>
      <a:minorFont>
        <a:latin typeface="나눔스퀘어 네오 OTF Bold" panose="02110004020202020204"/>
        <a:ea typeface=""/>
        <a:cs typeface=""/>
        <a:font script="Jpan" typeface="나눔스퀘어 네오 OTF Bold"/>
        <a:font script="Hang" typeface="나눔스퀘어 네오 OTF Bold"/>
        <a:font script="Hans" typeface="나눔스퀘어 네오 OTF Bold"/>
        <a:font script="Hant" typeface="나눔스퀘어 네오 OTF Bold"/>
        <a:font script="Arab" typeface="나눔스퀘어 네오 OTF Bold"/>
        <a:font script="Hebr" typeface="나눔스퀘어 네오 OTF Bold"/>
        <a:font script="Thai" typeface="나눔스퀘어 네오 OTF Bold"/>
        <a:font script="Ethi" typeface="나눔스퀘어 네오 OTF Bold"/>
        <a:font script="Beng" typeface="나눔스퀘어 네오 OTF Bold"/>
        <a:font script="Gujr" typeface="나눔스퀘어 네오 OTF Bold"/>
        <a:font script="Khmr" typeface="나눔스퀘어 네오 OTF Bold"/>
        <a:font script="Knda" typeface="나눔스퀘어 네오 OTF Bold"/>
        <a:font script="Guru" typeface="나눔스퀘어 네오 OTF Bold"/>
        <a:font script="Cans" typeface="나눔스퀘어 네오 OTF Bold"/>
        <a:font script="Cher" typeface="나눔스퀘어 네오 OTF Bold"/>
        <a:font script="Yiii" typeface="나눔스퀘어 네오 OTF Bold"/>
        <a:font script="Tibt" typeface="나눔스퀘어 네오 OTF Bold"/>
        <a:font script="Thaa" typeface="나눔스퀘어 네오 OTF Bold"/>
        <a:font script="Deva" typeface="나눔스퀘어 네오 OTF Bold"/>
        <a:font script="Telu" typeface="나눔스퀘어 네오 OTF Bold"/>
        <a:font script="Taml" typeface="나눔스퀘어 네오 OTF Bold"/>
        <a:font script="Syrc" typeface="나눔스퀘어 네오 OTF Bold"/>
        <a:font script="Orya" typeface="나눔스퀘어 네오 OTF Bold"/>
        <a:font script="Mlym" typeface="나눔스퀘어 네오 OTF Bold"/>
        <a:font script="Laoo" typeface="나눔스퀘어 네오 OTF Bold"/>
        <a:font script="Sinh" typeface="나눔스퀘어 네오 OTF Bold"/>
        <a:font script="Mong" typeface="나눔스퀘어 네오 OTF Bold"/>
        <a:font script="Viet" typeface="나눔스퀘어 네오 OTF Bold"/>
        <a:font script="Uigh" typeface="나눔스퀘어 네오 OTF Bold"/>
        <a:font script="Geor" typeface="나눔스퀘어 네오 OTF Bold"/>
        <a:font script="Armn" typeface="나눔스퀘어 네오 OTF Bold"/>
        <a:font script="Bugi" typeface="나눔스퀘어 네오 OTF Bold"/>
        <a:font script="Bopo" typeface="나눔스퀘어 네오 OTF Bold"/>
        <a:font script="Java" typeface="나눔스퀘어 네오 OTF Bold"/>
        <a:font script="Lisu" typeface="나눔스퀘어 네오 OTF Bold"/>
        <a:font script="Mymr" typeface="나눔스퀘어 네오 OTF Bold"/>
        <a:font script="Nkoo" typeface="나눔스퀘어 네오 OTF Bold"/>
        <a:font script="Olck" typeface="나눔스퀘어 네오 OTF Bold"/>
        <a:font script="Osma" typeface="나눔스퀘어 네오 OTF Bold"/>
        <a:font script="Phag" typeface="나눔스퀘어 네오 OTF Bold"/>
        <a:font script="Syrn" typeface="나눔스퀘어 네오 OTF Bold"/>
        <a:font script="Syrj" typeface="나눔스퀘어 네오 OTF Bold"/>
        <a:font script="Syre" typeface="나눔스퀘어 네오 OTF Bold"/>
        <a:font script="Sora" typeface="나눔스퀘어 네오 OTF Bold"/>
        <a:font script="Tale" typeface="나눔스퀘어 네오 OTF Bold"/>
        <a:font script="Talu" typeface="나눔스퀘어 네오 OTF Bold"/>
        <a:font script="Tfng" typeface="나눔스퀘어 네오 OTF Bol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10884</TotalTime>
  <Words>2846</Words>
  <Application>Microsoft Office PowerPoint</Application>
  <PresentationFormat>사용자 지정</PresentationFormat>
  <Paragraphs>555</Paragraphs>
  <Slides>14</Slides>
  <Notes>2</Notes>
  <HiddenSlides>0</HiddenSlides>
  <MMClips>2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나눔스퀘어OTF</vt:lpstr>
      <vt:lpstr>나눔스퀘어 네오 OTF ExtraBold</vt:lpstr>
      <vt:lpstr>Wingdings</vt:lpstr>
      <vt:lpstr>나눔스퀘어 네오 OTF Bold</vt:lpstr>
      <vt:lpstr>나눔스퀘어 네오 OTF Regular</vt:lpstr>
      <vt:lpstr>Arial</vt:lpstr>
      <vt:lpstr>Office 테마</vt:lpstr>
      <vt:lpstr>2026.09.02 진행 상황 공유</vt:lpstr>
      <vt:lpstr>1. 과제 개요</vt:lpstr>
      <vt:lpstr>2. 시스템 구성 - 개요</vt:lpstr>
      <vt:lpstr>3. 기어 / 클러스터 변화 인식 기술 – 처리 흐름과 판정 원리</vt:lpstr>
      <vt:lpstr>4. 경고음 인식 기술 – 처리 흐름과 판정 원리</vt:lpstr>
      <vt:lpstr>5. 물리 지연 실측 – 데모 영상</vt:lpstr>
      <vt:lpstr>5. 물리 지연 실측 – 30 ms 동기의 근거</vt:lpstr>
      <vt:lpstr>6. 기어/클러스터 및 음향 판정 데모 영상</vt:lpstr>
      <vt:lpstr>7. 법규 별 사용자 시나리오 – 공통 판정 구조</vt:lpstr>
      <vt:lpstr>7-1. 법규 별 사용자 시나리오 – UN R158 (PDW)</vt:lpstr>
      <vt:lpstr>7-2. 법규 별 사용자 시나리오 – UN R175 (PMSA)</vt:lpstr>
      <vt:lpstr>7-3. 법규 별 사용자 시나리오 – NCAP (PCA)</vt:lpstr>
      <vt:lpstr>8. 향후 일정 – 개발 일정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fivefour</dc:creator>
  <cp:lastModifiedBy>성덕 한</cp:lastModifiedBy>
  <cp:revision>646</cp:revision>
  <dcterms:created xsi:type="dcterms:W3CDTF">2024-01-19T03:00:47Z</dcterms:created>
  <dcterms:modified xsi:type="dcterms:W3CDTF">2026-09-03T01:05:43Z</dcterms:modified>
</cp:coreProperties>
</file>